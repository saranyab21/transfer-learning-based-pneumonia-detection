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91" r:id="rId3"/>
    <p:sldId id="257" r:id="rId4"/>
    <p:sldId id="259" r:id="rId5"/>
    <p:sldId id="286" r:id="rId6"/>
    <p:sldId id="261" r:id="rId7"/>
    <p:sldId id="262" r:id="rId8"/>
    <p:sldId id="263" r:id="rId9"/>
    <p:sldId id="265" r:id="rId10"/>
    <p:sldId id="266" r:id="rId11"/>
    <p:sldId id="287" r:id="rId12"/>
    <p:sldId id="270" r:id="rId13"/>
    <p:sldId id="285" r:id="rId14"/>
    <p:sldId id="277" r:id="rId15"/>
    <p:sldId id="271" r:id="rId16"/>
    <p:sldId id="278" r:id="rId17"/>
    <p:sldId id="279" r:id="rId18"/>
    <p:sldId id="269" r:id="rId19"/>
    <p:sldId id="280" r:id="rId20"/>
    <p:sldId id="275" r:id="rId21"/>
    <p:sldId id="289" r:id="rId22"/>
    <p:sldId id="290" r:id="rId23"/>
  </p:sldIdLst>
  <p:sldSz cx="12192000" cy="6858000"/>
  <p:notesSz cx="6858000" cy="9144000"/>
  <p:embeddedFontLst>
    <p:embeddedFont>
      <p:font typeface="Bahnschrift SemiBold" panose="020B0502040204020203" pitchFamily="34" charset="0"/>
      <p:bold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Gill Sans MT" panose="020B0502020104020203" pitchFamily="34" charset="0"/>
      <p:regular r:id="rId30"/>
      <p:bold r:id="rId31"/>
      <p:italic r:id="rId32"/>
      <p:boldItalic r:id="rId33"/>
    </p:embeddedFont>
    <p:embeddedFont>
      <p:font typeface="Merriweather" panose="00000500000000000000" pitchFamily="2" charset="0"/>
      <p:regular r:id="rId34"/>
      <p:bold r:id="rId35"/>
      <p:italic r:id="rId36"/>
      <p:boldItalic r:id="rId37"/>
    </p:embeddedFont>
    <p:embeddedFont>
      <p:font typeface="Roboto Mono" panose="020B0604020202020204" pitchFamily="49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rthikeya R" initials="KR" lastIdx="1" clrIdx="0">
    <p:extLst>
      <p:ext uri="{19B8F6BF-5375-455C-9EA6-DF929625EA0E}">
        <p15:presenceInfo xmlns:p15="http://schemas.microsoft.com/office/powerpoint/2012/main" userId="804f51c606d65ba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4660"/>
  </p:normalViewPr>
  <p:slideViewPr>
    <p:cSldViewPr snapToGrid="0">
      <p:cViewPr varScale="1">
        <p:scale>
          <a:sx n="66" d="100"/>
          <a:sy n="66" d="100"/>
        </p:scale>
        <p:origin x="70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89b24065dd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89b24065dd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08274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78123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1317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63138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74435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8587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2" name="Google Shape;22;p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6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8" name="Google Shape;48;p6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2"/>
          </p:nvPr>
        </p:nvSpPr>
        <p:spPr>
          <a:xfrm>
            <a:off x="1097280" y="2582335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0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spcFirstLastPara="1" wrap="square" lIns="457200" tIns="457200" rIns="0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body" idx="1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1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aggle.com/paultimothymooney/chest-xray-pneumoni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>
            <a:spLocks noGrp="1"/>
          </p:cNvSpPr>
          <p:nvPr>
            <p:ph type="title"/>
          </p:nvPr>
        </p:nvSpPr>
        <p:spPr>
          <a:xfrm>
            <a:off x="600400" y="163629"/>
            <a:ext cx="11092500" cy="1391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ctr" rtl="0">
              <a:spcBef>
                <a:spcPts val="1200"/>
              </a:spcBef>
              <a:spcAft>
                <a:spcPts val="1200"/>
              </a:spcAft>
            </a:pPr>
            <a:br>
              <a:rPr lang="en-US" sz="1600" b="0" dirty="0">
                <a:effectLst/>
              </a:rPr>
            </a:br>
            <a:br>
              <a:rPr lang="en-US" sz="1600" dirty="0"/>
            </a:br>
            <a:r>
              <a:rPr lang="en-US" sz="4100" b="1" dirty="0">
                <a:solidFill>
                  <a:srgbClr val="0D5672"/>
                </a:solidFill>
              </a:rPr>
              <a:t>Transfer Learning-based Pneumonia Detection using Chest X-Ray Images</a:t>
            </a:r>
            <a:endParaRPr lang="en-US" sz="4100" dirty="0"/>
          </a:p>
        </p:txBody>
      </p:sp>
      <p:pic>
        <p:nvPicPr>
          <p:cNvPr id="102" name="Google Shape;102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43274" y="4455743"/>
            <a:ext cx="5705475" cy="17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3"/>
          <p:cNvSpPr txBox="1"/>
          <p:nvPr/>
        </p:nvSpPr>
        <p:spPr>
          <a:xfrm>
            <a:off x="1647824" y="3086400"/>
            <a:ext cx="8871725" cy="118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dirty="0"/>
            </a:br>
            <a:br>
              <a:rPr lang="en-US" dirty="0"/>
            </a:br>
            <a:endParaRPr dirty="0"/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595959"/>
                </a:solidFill>
                <a:latin typeface="Merriweather" panose="020B0604020202020204" pitchFamily="2" charset="0"/>
              </a:rPr>
              <a:t>4TH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Merriweather" panose="020B0604020202020204" pitchFamily="2" charset="0"/>
              </a:rPr>
              <a:t> YEAR    8TH SEMESTER</a:t>
            </a:r>
            <a:endParaRPr lang="en-US" sz="2000" b="0" dirty="0">
              <a:effectLst/>
            </a:endParaRPr>
          </a:p>
          <a:p>
            <a:pPr algn="ctr"/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Merriweather" panose="020B0604020202020204" pitchFamily="2" charset="0"/>
              </a:rPr>
              <a:t>UNIVERSITY OF ENGINEERING AND MANAGEMENT,KOLKATA</a:t>
            </a:r>
            <a:endParaRPr sz="15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3E6B7D1-C4EB-7C82-27F8-C3136442D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5363" y="1971809"/>
            <a:ext cx="2386012" cy="1677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983367-48E7-CFDD-A95B-07304CD9A2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67DB19-27B4-5D16-F334-1B13DB7775FB}"/>
              </a:ext>
            </a:extLst>
          </p:cNvPr>
          <p:cNvSpPr txBox="1"/>
          <p:nvPr/>
        </p:nvSpPr>
        <p:spPr>
          <a:xfrm>
            <a:off x="1333500" y="781050"/>
            <a:ext cx="9525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IN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Saranya Bhattacharjee                                        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University Roll No.  12019009001311                        </a:t>
            </a:r>
            <a:endParaRPr lang="en-IN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Aditya  Jaiswal                                                   University Roll No. 12019009023073              </a:t>
            </a:r>
            <a:endParaRPr lang="en-IN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Nisha Kumari                                                     University Roll No.12019009023082              </a:t>
            </a:r>
            <a:endParaRPr lang="en-IN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Aman Chopra                                                     University Roll No. 12019009022013                 </a:t>
            </a:r>
            <a:endParaRPr lang="en-IN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Aniket Singh                                                       University Roll No. 12019009022126                 </a:t>
            </a:r>
            <a:endParaRPr lang="en-IN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Shubham Mukherjee                                           University Roll No. 12019009001221         </a:t>
            </a: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endParaRPr lang="en-IN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r>
              <a:rPr lang="en-IN" sz="16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Under the guidance of</a:t>
            </a:r>
            <a:r>
              <a:rPr lang="en-IN" sz="1200" dirty="0"/>
              <a:t>  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Prof. </a:t>
            </a:r>
            <a:r>
              <a:rPr lang="en-IN" sz="1600" b="0" i="0" u="none" strike="noStrike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Sankhadeep</a:t>
            </a:r>
            <a:r>
              <a:rPr lang="en-IN" sz="1600" b="0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 Chatterjee &amp;</a:t>
            </a:r>
            <a:r>
              <a:rPr lang="en-IN" sz="1200" dirty="0"/>
              <a:t>  </a:t>
            </a:r>
            <a:r>
              <a:rPr lang="en-IN" sz="1600" b="0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Prof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Amartya Chakraborty</a:t>
            </a:r>
            <a:endParaRPr lang="en-IN" sz="1200" dirty="0"/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IN" sz="1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 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Department of Computer Science and Engineering</a:t>
            </a:r>
            <a:endParaRPr lang="en-IN" sz="1200" b="0" dirty="0">
              <a:effectLst/>
            </a:endParaRPr>
          </a:p>
          <a:p>
            <a:br>
              <a:rPr lang="en-IN" dirty="0"/>
            </a:b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1C5842-1DD3-775E-60C7-E995209DA9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32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D5672"/>
              </a:buClr>
              <a:buSzPts val="4800"/>
              <a:buFont typeface="Calibri"/>
              <a:buNone/>
            </a:pPr>
            <a:r>
              <a:rPr lang="en-US" b="1" dirty="0">
                <a:solidFill>
                  <a:srgbClr val="0D5672"/>
                </a:solidFill>
              </a:rPr>
              <a:t>INTRODUCTION</a:t>
            </a:r>
            <a:endParaRPr dirty="0"/>
          </a:p>
        </p:txBody>
      </p:sp>
      <p:sp>
        <p:nvSpPr>
          <p:cNvPr id="110" name="Google Shape;110;p14"/>
          <p:cNvSpPr txBox="1">
            <a:spLocks noGrp="1"/>
          </p:cNvSpPr>
          <p:nvPr>
            <p:ph type="body" idx="1"/>
          </p:nvPr>
        </p:nvSpPr>
        <p:spPr>
          <a:xfrm>
            <a:off x="941832" y="1819656"/>
            <a:ext cx="10506456" cy="4612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384048" lvl="1" indent="-1828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Noto Sans Symbols"/>
              <a:buChar char="▪"/>
            </a:pPr>
            <a:r>
              <a:rPr lang="en-US" sz="2500" dirty="0"/>
              <a:t>According to the World Health Organization (WHO), </a:t>
            </a:r>
            <a:r>
              <a:rPr lang="en-US" sz="2500" b="1" dirty="0"/>
              <a:t>pneumonia kills </a:t>
            </a:r>
            <a:r>
              <a:rPr lang="en-US" sz="2500" dirty="0"/>
              <a:t>about </a:t>
            </a:r>
            <a:r>
              <a:rPr lang="en-US" sz="2500" b="1" dirty="0"/>
              <a:t>2 million children</a:t>
            </a:r>
            <a:r>
              <a:rPr lang="en-US" sz="2500" dirty="0"/>
              <a:t> under 5 years old every year and is consistently estimated as the single leading cause of childhood mortality (</a:t>
            </a:r>
            <a:r>
              <a:rPr lang="en-US" sz="2500" dirty="0" err="1"/>
              <a:t>Rudan</a:t>
            </a:r>
            <a:r>
              <a:rPr lang="en-US" sz="2500" dirty="0"/>
              <a:t> et al., 2008), killing more children than HIV/AIDS, Malaria, and Measles combined.</a:t>
            </a:r>
            <a:endParaRPr sz="2500" dirty="0"/>
          </a:p>
          <a:p>
            <a:pPr marL="384048" lvl="1" indent="-1828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Noto Sans Symbols"/>
              <a:buChar char="▪"/>
            </a:pPr>
            <a:r>
              <a:rPr lang="en-US" sz="2500" b="1" dirty="0"/>
              <a:t>Chest X-rays  - </a:t>
            </a:r>
            <a:r>
              <a:rPr lang="en-US" sz="2500" dirty="0"/>
              <a:t>Currently the best available method for diagnosing pneumonia as stated by WHO (2001). However, detecting pneumonia is a challenging task that relies on the availability of expert radiologists.</a:t>
            </a:r>
          </a:p>
          <a:p>
            <a:pPr marL="384048" lvl="1" indent="-1828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Noto Sans Symbols"/>
              <a:buChar char="▪"/>
            </a:pPr>
            <a:r>
              <a:rPr lang="en-US" sz="2500" dirty="0"/>
              <a:t>Our study aims to ultimately aid in expediting the diagnosis and referral of these treatable conditions, thereby facilitating earlier diagnosis, and resulting in improved clinical outcomes.</a:t>
            </a:r>
            <a:endParaRPr lang="en-IN" sz="25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3BAF9E-F8C7-D39F-1933-9BDA97036F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D5672"/>
              </a:buClr>
              <a:buSzPts val="4800"/>
              <a:buFont typeface="Calibri"/>
              <a:buNone/>
            </a:pPr>
            <a:r>
              <a:rPr lang="en-US" b="1" dirty="0">
                <a:solidFill>
                  <a:srgbClr val="0D5672"/>
                </a:solidFill>
              </a:rPr>
              <a:t>PROBLEM STATEMENT</a:t>
            </a:r>
            <a:endParaRPr dirty="0"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bg1">
                    <a:lumMod val="50000"/>
                  </a:schemeClr>
                </a:solidFill>
              </a:rPr>
              <a:t>Build an AI model which can automatically detect Pneumonia from Chest X-ray images</a:t>
            </a:r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en-US" sz="2800" b="1" dirty="0">
              <a:solidFill>
                <a:schemeClr val="bg1">
                  <a:lumMod val="50000"/>
                </a:schemeClr>
              </a:solidFill>
            </a:endParaRPr>
          </a:p>
          <a:p>
            <a:pPr marL="0" lvl="0" indent="0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accent2"/>
                </a:solidFill>
              </a:rPr>
              <a:t>Sub-problems:</a:t>
            </a:r>
          </a:p>
          <a:p>
            <a:pPr marL="0" lv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1) Pneumonia vs. Normal Cases Classification with Chest X-ray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2) Bacterial vs. Viral Cases Classification with Chest X-ray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F24881-F757-234D-09BC-F9D792A60E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A1502-064C-405B-B28B-AE8A2E668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Clr>
                <a:srgbClr val="0D5672"/>
              </a:buClr>
              <a:buSzPts val="4800"/>
            </a:pPr>
            <a:r>
              <a:rPr lang="en-US" b="1" dirty="0">
                <a:solidFill>
                  <a:srgbClr val="0D5672"/>
                </a:solidFill>
              </a:rPr>
              <a:t>IMPORTANT METRICS</a:t>
            </a:r>
          </a:p>
        </p:txBody>
      </p:sp>
      <p:sp>
        <p:nvSpPr>
          <p:cNvPr id="4" name="Google Shape;110;p14">
            <a:extLst>
              <a:ext uri="{FF2B5EF4-FFF2-40B4-BE49-F238E27FC236}">
                <a16:creationId xmlns:a16="http://schemas.microsoft.com/office/drawing/2014/main" id="{F0291738-B253-4AB4-A83A-D28BCC0D7B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96962" y="1846263"/>
            <a:ext cx="10321607" cy="402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384048" lvl="1" indent="-182880" algn="just">
              <a:lnSpc>
                <a:spcPct val="100000"/>
              </a:lnSpc>
              <a:spcBef>
                <a:spcPts val="0"/>
              </a:spcBef>
              <a:buSzPts val="2500"/>
              <a:buFont typeface="Noto Sans Symbols"/>
              <a:buChar char="▪"/>
            </a:pPr>
            <a:r>
              <a:rPr lang="en-US" sz="2500" dirty="0"/>
              <a:t>Immediate treatment for someone with pneumonia is utmost important, so everyone with pneumonia has to be found out correctly with the model, i.e., in evaluation terms of Machine Learning:</a:t>
            </a:r>
          </a:p>
          <a:p>
            <a:pPr marL="658368" lvl="2" indent="0" algn="ctr">
              <a:lnSpc>
                <a:spcPct val="100000"/>
              </a:lnSpc>
              <a:spcBef>
                <a:spcPts val="0"/>
              </a:spcBef>
              <a:buSzPts val="2500"/>
              <a:buNone/>
            </a:pPr>
            <a:r>
              <a:rPr lang="en-US" sz="2100" b="1" dirty="0"/>
              <a:t>Recall has to be high for Pneumonia vs Normal cases</a:t>
            </a:r>
            <a:endParaRPr lang="en-US" sz="2100" dirty="0"/>
          </a:p>
          <a:p>
            <a:pPr marL="201168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US" sz="2500" dirty="0"/>
          </a:p>
          <a:p>
            <a:pPr marL="384048" lvl="1" indent="-182880" algn="just">
              <a:lnSpc>
                <a:spcPct val="100000"/>
              </a:lnSpc>
              <a:spcBef>
                <a:spcPts val="0"/>
              </a:spcBef>
              <a:buSzPts val="2500"/>
              <a:buFont typeface="Noto Sans Symbols"/>
              <a:buChar char="▪"/>
            </a:pPr>
            <a:r>
              <a:rPr lang="en-US" sz="2500" dirty="0"/>
              <a:t>Once some one is diagnosed with Pneumonia, we have to identify whether it is a viral pneumonia case or bacterial pneumonia, as the patient has to be treated accordingly because mistreatment as a viral case could be fatal. Moreover, the treatments for both are different. </a:t>
            </a:r>
          </a:p>
          <a:p>
            <a:pPr marL="658368" lvl="2" indent="0" algn="ctr">
              <a:lnSpc>
                <a:spcPct val="100000"/>
              </a:lnSpc>
              <a:spcBef>
                <a:spcPts val="0"/>
              </a:spcBef>
              <a:buSzPts val="2500"/>
              <a:buNone/>
            </a:pPr>
            <a:r>
              <a:rPr lang="en-US" sz="2100" b="1" dirty="0"/>
              <a:t>In this case, Precision is very important</a:t>
            </a:r>
            <a:endParaRPr lang="en-US" sz="2100" dirty="0"/>
          </a:p>
          <a:p>
            <a:pPr marL="384048" lvl="1" indent="-182880" algn="just">
              <a:lnSpc>
                <a:spcPct val="100000"/>
              </a:lnSpc>
              <a:spcBef>
                <a:spcPts val="0"/>
              </a:spcBef>
              <a:buSzPts val="2500"/>
              <a:buFont typeface="Noto Sans Symbols"/>
              <a:buChar char="▪"/>
            </a:pPr>
            <a:endParaRPr lang="en-US" sz="2500" b="1" dirty="0"/>
          </a:p>
          <a:p>
            <a:pPr marL="201168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 sz="2500" b="1" dirty="0"/>
              <a:t> 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A5C6D4-CEA6-B94B-6CF0-1CF0D3A1C9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099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title"/>
          </p:nvPr>
        </p:nvSpPr>
        <p:spPr>
          <a:xfrm>
            <a:off x="1097280" y="257728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D5672"/>
              </a:buClr>
              <a:buSzPts val="4800"/>
              <a:buFont typeface="Calibri"/>
              <a:buNone/>
            </a:pPr>
            <a:r>
              <a:rPr lang="en-US" b="1">
                <a:solidFill>
                  <a:srgbClr val="0D5672"/>
                </a:solidFill>
              </a:rPr>
              <a:t>ABOUT THE DATASET</a:t>
            </a:r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2223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342900" lvl="0" algn="just">
              <a:lnSpc>
                <a:spcPct val="100000"/>
              </a:lnSpc>
              <a:spcBef>
                <a:spcPts val="0"/>
              </a:spcBef>
              <a:buSzPts val="2500"/>
              <a:buFont typeface="Wingdings" panose="05000000000000000000" pitchFamily="2" charset="2"/>
              <a:buChar char="§"/>
            </a:pPr>
            <a:r>
              <a:rPr lang="en-US" sz="2500" dirty="0"/>
              <a:t>There are a total of </a:t>
            </a:r>
            <a:r>
              <a:rPr lang="en-US" sz="2500" b="1" dirty="0"/>
              <a:t>5,856</a:t>
            </a:r>
            <a:r>
              <a:rPr lang="en-US" sz="2500" dirty="0"/>
              <a:t> X-Ray Grey-Scale images (JPEG) and 2 categories, namely Pneumonial vs. Normal images. </a:t>
            </a:r>
          </a:p>
          <a:p>
            <a:pPr marL="342900" lvl="0" algn="just">
              <a:lnSpc>
                <a:spcPct val="100000"/>
              </a:lnSpc>
              <a:spcBef>
                <a:spcPts val="0"/>
              </a:spcBef>
              <a:buSzPts val="2500"/>
              <a:buFont typeface="Wingdings" panose="05000000000000000000" pitchFamily="2" charset="2"/>
              <a:buChar char="§"/>
            </a:pPr>
            <a:r>
              <a:rPr lang="en-US" sz="2500" dirty="0"/>
              <a:t>These </a:t>
            </a:r>
            <a:r>
              <a:rPr lang="en-US" sz="2500" b="1" dirty="0"/>
              <a:t>pediatric chest X-rays </a:t>
            </a:r>
            <a:r>
              <a:rPr lang="en-US" sz="2500" dirty="0"/>
              <a:t>of pneumonial patients is further distinguished into viral and bacterial pneumonia to facilitate rapid referrals for children needing urgent intervention.</a:t>
            </a:r>
            <a:endParaRPr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1F0915B5-12D4-0C0D-7799-C27DD0A95C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375206"/>
              </p:ext>
            </p:extLst>
          </p:nvPr>
        </p:nvGraphicFramePr>
        <p:xfrm>
          <a:off x="1222409" y="4175047"/>
          <a:ext cx="10135403" cy="1450756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155838">
                  <a:extLst>
                    <a:ext uri="{9D8B030D-6E8A-4147-A177-3AD203B41FA5}">
                      <a16:colId xmlns:a16="http://schemas.microsoft.com/office/drawing/2014/main" val="2333423228"/>
                    </a:ext>
                  </a:extLst>
                </a:gridCol>
                <a:gridCol w="1795913">
                  <a:extLst>
                    <a:ext uri="{9D8B030D-6E8A-4147-A177-3AD203B41FA5}">
                      <a16:colId xmlns:a16="http://schemas.microsoft.com/office/drawing/2014/main" val="1169633310"/>
                    </a:ext>
                  </a:extLst>
                </a:gridCol>
                <a:gridCol w="1795913">
                  <a:extLst>
                    <a:ext uri="{9D8B030D-6E8A-4147-A177-3AD203B41FA5}">
                      <a16:colId xmlns:a16="http://schemas.microsoft.com/office/drawing/2014/main" val="2564372153"/>
                    </a:ext>
                  </a:extLst>
                </a:gridCol>
                <a:gridCol w="1795913">
                  <a:extLst>
                    <a:ext uri="{9D8B030D-6E8A-4147-A177-3AD203B41FA5}">
                      <a16:colId xmlns:a16="http://schemas.microsoft.com/office/drawing/2014/main" val="1014691401"/>
                    </a:ext>
                  </a:extLst>
                </a:gridCol>
                <a:gridCol w="1795913">
                  <a:extLst>
                    <a:ext uri="{9D8B030D-6E8A-4147-A177-3AD203B41FA5}">
                      <a16:colId xmlns:a16="http://schemas.microsoft.com/office/drawing/2014/main" val="1839747440"/>
                    </a:ext>
                  </a:extLst>
                </a:gridCol>
                <a:gridCol w="1795913">
                  <a:extLst>
                    <a:ext uri="{9D8B030D-6E8A-4147-A177-3AD203B41FA5}">
                      <a16:colId xmlns:a16="http://schemas.microsoft.com/office/drawing/2014/main" val="1645694826"/>
                    </a:ext>
                  </a:extLst>
                </a:gridCol>
              </a:tblGrid>
              <a:tr h="514103">
                <a:tc>
                  <a:txBody>
                    <a:bodyPr/>
                    <a:lstStyle/>
                    <a:p>
                      <a:r>
                        <a:rPr lang="en-US" sz="2000" dirty="0"/>
                        <a:t>SET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Total Images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Normal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Pneumonia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Bacterial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Viral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100771"/>
                  </a:ext>
                </a:extLst>
              </a:tr>
              <a:tr h="514103">
                <a:tc>
                  <a:txBody>
                    <a:bodyPr/>
                    <a:lstStyle/>
                    <a:p>
                      <a:r>
                        <a:rPr lang="en-US" sz="1800" dirty="0"/>
                        <a:t>Training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5216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1341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3875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2530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1345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912616"/>
                  </a:ext>
                </a:extLst>
              </a:tr>
              <a:tr h="422550">
                <a:tc>
                  <a:txBody>
                    <a:bodyPr/>
                    <a:lstStyle/>
                    <a:p>
                      <a:r>
                        <a:rPr lang="en-US" sz="1800" dirty="0"/>
                        <a:t>Testing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624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234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390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242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148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343007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039DD1-7801-C938-F49E-7248A039FA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489149" y="286600"/>
            <a:ext cx="112746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D5672"/>
              </a:buClr>
              <a:buSzPts val="4800"/>
              <a:buFont typeface="Calibri"/>
              <a:buNone/>
            </a:pPr>
            <a:r>
              <a:rPr lang="en-US" b="1">
                <a:solidFill>
                  <a:srgbClr val="0D5672"/>
                </a:solidFill>
              </a:rPr>
              <a:t>PNEUMONIA VS NORMAL X-RAY IMAGES</a:t>
            </a:r>
            <a:endParaRPr/>
          </a:p>
        </p:txBody>
      </p:sp>
      <p:pic>
        <p:nvPicPr>
          <p:cNvPr id="140" name="Google Shape;14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6355" y="1965325"/>
            <a:ext cx="9010650" cy="424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A69735-17E2-50CD-D7F6-FA97EAAE40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D5672"/>
              </a:buClr>
              <a:buSzPts val="4800"/>
              <a:buFont typeface="Calibri"/>
              <a:buNone/>
            </a:pPr>
            <a:r>
              <a:rPr lang="en-US" b="1">
                <a:solidFill>
                  <a:srgbClr val="0D5672"/>
                </a:solidFill>
              </a:rPr>
              <a:t>DATA AUGMENTATION</a:t>
            </a:r>
            <a:endParaRPr/>
          </a:p>
        </p:txBody>
      </p:sp>
      <p:sp>
        <p:nvSpPr>
          <p:cNvPr id="146" name="Google Shape;146;p20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Noto Sans Symbols"/>
              <a:buChar char="▪"/>
            </a:pPr>
            <a:r>
              <a:rPr lang="en-US" sz="2500" dirty="0"/>
              <a:t>Technique to artificially create new training data from existing training data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 sz="2500" dirty="0"/>
              <a:t> </a:t>
            </a:r>
            <a:endParaRPr dirty="0"/>
          </a:p>
          <a:p>
            <a:pPr marL="91440" lvl="0" indent="-15875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500"/>
              <a:buFont typeface="Noto Sans Symbols"/>
              <a:buChar char="▪"/>
            </a:pPr>
            <a:r>
              <a:rPr lang="en-US" sz="2500" i="1" u="sng" dirty="0"/>
              <a:t>Implementation:</a:t>
            </a:r>
            <a:r>
              <a:rPr lang="en-US" sz="2500" dirty="0"/>
              <a:t> ImageDataGenerator class from </a:t>
            </a:r>
            <a:r>
              <a:rPr lang="en-US" sz="2500" dirty="0" err="1"/>
              <a:t>Keras</a:t>
            </a:r>
            <a:r>
              <a:rPr lang="en-US" sz="2500" dirty="0"/>
              <a:t> </a:t>
            </a:r>
          </a:p>
          <a:p>
            <a:pPr marL="91440" lvl="0" indent="-15875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500"/>
              <a:buFont typeface="Noto Sans Symbols"/>
              <a:buChar char="▪"/>
            </a:pPr>
            <a:endParaRPr dirty="0"/>
          </a:p>
          <a:p>
            <a:pPr marL="91440" lvl="0" indent="-15875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500"/>
              <a:buFont typeface="Noto Sans Symbols"/>
              <a:buChar char="▪"/>
            </a:pPr>
            <a:r>
              <a:rPr lang="en-US" sz="2500" dirty="0"/>
              <a:t>Transformations used include:</a:t>
            </a:r>
            <a:r>
              <a:rPr lang="en-US" sz="1400" dirty="0"/>
              <a:t> </a:t>
            </a:r>
          </a:p>
          <a:p>
            <a:pPr marL="548640" lvl="1" indent="-158750">
              <a:lnSpc>
                <a:spcPct val="100000"/>
              </a:lnSpc>
              <a:spcBef>
                <a:spcPts val="1400"/>
              </a:spcBef>
              <a:buSzPts val="2500"/>
              <a:buFont typeface="Noto Sans Symbols"/>
              <a:buChar char="▪"/>
            </a:pPr>
            <a:r>
              <a:rPr lang="en-US" sz="2200" b="1" dirty="0"/>
              <a:t>Zoom</a:t>
            </a:r>
          </a:p>
          <a:p>
            <a:pPr marL="548640" lvl="1" indent="-158750">
              <a:lnSpc>
                <a:spcPct val="100000"/>
              </a:lnSpc>
              <a:spcBef>
                <a:spcPts val="1400"/>
              </a:spcBef>
              <a:buSzPts val="2500"/>
              <a:buFont typeface="Noto Sans Symbols"/>
              <a:buChar char="▪"/>
            </a:pPr>
            <a:r>
              <a:rPr lang="en-US" sz="2200" b="1" dirty="0"/>
              <a:t>Horizontal shift, Vertical shift</a:t>
            </a:r>
          </a:p>
          <a:p>
            <a:pPr marL="548640" lvl="1" indent="-158750">
              <a:lnSpc>
                <a:spcPct val="100000"/>
              </a:lnSpc>
              <a:spcBef>
                <a:spcPts val="1400"/>
              </a:spcBef>
              <a:buSzPts val="2500"/>
              <a:buFont typeface="Noto Sans Symbols"/>
              <a:buChar char="▪"/>
            </a:pPr>
            <a:r>
              <a:rPr lang="en-US" sz="2200" b="1" dirty="0"/>
              <a:t>Horizontal flip, Rotation and shear</a:t>
            </a:r>
            <a:endParaRPr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6E4D86-9FE4-34E2-D8BD-2D12E2755F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D5672"/>
              </a:buClr>
              <a:buSzPts val="4800"/>
              <a:buFont typeface="Calibri"/>
              <a:buNone/>
            </a:pPr>
            <a:r>
              <a:rPr lang="en-US" b="1" dirty="0">
                <a:solidFill>
                  <a:srgbClr val="0D5672"/>
                </a:solidFill>
              </a:rPr>
              <a:t>MODELS USED</a:t>
            </a:r>
            <a:endParaRPr dirty="0"/>
          </a:p>
        </p:txBody>
      </p:sp>
      <p:sp>
        <p:nvSpPr>
          <p:cNvPr id="158" name="Google Shape;158;p22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58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Font typeface="Noto Sans Symbols"/>
              <a:buChar char="▪"/>
            </a:pPr>
            <a:r>
              <a:rPr lang="en-US" sz="2500" dirty="0"/>
              <a:t> Convolution Neural Network (CNN) </a:t>
            </a:r>
            <a:endParaRPr dirty="0"/>
          </a:p>
          <a:p>
            <a:pPr marL="91440" lvl="0" indent="-15875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500"/>
              <a:buFont typeface="Noto Sans Symbols"/>
              <a:buChar char="▪"/>
            </a:pPr>
            <a:r>
              <a:rPr lang="en-US" sz="2500" dirty="0"/>
              <a:t> Transfer learning models</a:t>
            </a:r>
            <a:endParaRPr dirty="0"/>
          </a:p>
          <a:p>
            <a:pPr marL="566928" lvl="2" indent="-18288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900"/>
              <a:buFont typeface="Noto Sans Symbols"/>
              <a:buChar char="▪"/>
            </a:pPr>
            <a:r>
              <a:rPr lang="en-US" sz="2400" b="1" dirty="0"/>
              <a:t>InceptionV3 </a:t>
            </a:r>
            <a:endParaRPr sz="1800" b="1" dirty="0"/>
          </a:p>
          <a:p>
            <a:pPr marL="566928" lvl="2" indent="-1828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00"/>
              <a:buFont typeface="Noto Sans Symbols"/>
              <a:buChar char="▪"/>
            </a:pPr>
            <a:r>
              <a:rPr lang="en-US" sz="2400" b="1" dirty="0" err="1"/>
              <a:t>DenseNet</a:t>
            </a:r>
            <a:r>
              <a:rPr lang="en-US" sz="2400" b="1" dirty="0"/>
              <a:t> </a:t>
            </a:r>
            <a:endParaRPr sz="1800" b="1" dirty="0"/>
          </a:p>
          <a:p>
            <a:pPr marL="566928" lvl="2" indent="-1828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00"/>
              <a:buFont typeface="Noto Sans Symbols"/>
              <a:buChar char="▪"/>
            </a:pPr>
            <a:r>
              <a:rPr lang="en-US" sz="2400" b="1" dirty="0"/>
              <a:t>ResNet50</a:t>
            </a:r>
            <a:endParaRPr sz="1800" b="1" dirty="0"/>
          </a:p>
          <a:p>
            <a:pPr marL="566928" lvl="2" indent="-1828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00"/>
              <a:buFont typeface="Noto Sans Symbols"/>
              <a:buChar char="▪"/>
            </a:pPr>
            <a:r>
              <a:rPr lang="en-US" sz="2400" b="1" dirty="0"/>
              <a:t> VGG16</a:t>
            </a:r>
            <a:endParaRPr sz="18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35D5FA-B982-B2F9-2B54-667FB9BE8A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D5672"/>
              </a:buClr>
              <a:buSzPts val="4800"/>
              <a:buFont typeface="Calibri"/>
              <a:buNone/>
            </a:pPr>
            <a:r>
              <a:rPr lang="en-US" b="1" dirty="0">
                <a:solidFill>
                  <a:srgbClr val="0D5672"/>
                </a:solidFill>
              </a:rPr>
              <a:t>CNN ARCHITECTURE</a:t>
            </a:r>
            <a:endParaRPr dirty="0"/>
          </a:p>
        </p:txBody>
      </p:sp>
      <p:sp>
        <p:nvSpPr>
          <p:cNvPr id="164" name="Google Shape;164;p23"/>
          <p:cNvSpPr txBox="1">
            <a:spLocks noGrp="1"/>
          </p:cNvSpPr>
          <p:nvPr>
            <p:ph type="body" idx="1"/>
          </p:nvPr>
        </p:nvSpPr>
        <p:spPr>
          <a:xfrm>
            <a:off x="683787" y="1737360"/>
            <a:ext cx="10901487" cy="4641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sz="2500" dirty="0"/>
          </a:p>
          <a:p>
            <a:pPr marL="91440" lvl="0" indent="-158750" algn="ctr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00"/>
              <a:buChar char=" "/>
            </a:pPr>
            <a:r>
              <a:rPr lang="en-US" sz="2100" b="1" dirty="0">
                <a:latin typeface="Bahnschrift SemiBold" panose="020B0502040204020203" pitchFamily="34" charset="0"/>
              </a:rPr>
              <a:t>INPUT                FEATURE EXTRACTION                CLASSIFICATION OUTPUT</a:t>
            </a:r>
            <a:endParaRPr sz="2100" b="1" dirty="0">
              <a:latin typeface="Bahnschrift SemiBold" panose="020B0502040204020203" pitchFamily="34" charset="0"/>
            </a:endParaRPr>
          </a:p>
          <a:p>
            <a:pPr marL="0" lvl="0" indent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00"/>
              <a:buNone/>
            </a:pPr>
            <a:endParaRPr sz="2500" dirty="0"/>
          </a:p>
          <a:p>
            <a:pPr marL="0" lvl="0" indent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00"/>
              <a:buNone/>
            </a:pPr>
            <a:r>
              <a:rPr lang="en-US" sz="2500" dirty="0"/>
              <a:t>Feature extraction</a:t>
            </a:r>
            <a:r>
              <a:rPr lang="en-US" dirty="0"/>
              <a:t> - </a:t>
            </a:r>
            <a:r>
              <a:rPr lang="en-US" sz="2500" dirty="0"/>
              <a:t>The feature extraction component of a convolutional neural network is what distinguishes CNNs from other multilayered neural networks. It typically comprises of repeating sets of these sequential steps</a:t>
            </a:r>
          </a:p>
          <a:p>
            <a:pPr marL="0" lvl="0" indent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00"/>
              <a:buNone/>
            </a:pPr>
            <a:endParaRPr dirty="0"/>
          </a:p>
          <a:p>
            <a:pPr marL="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500"/>
              <a:buNone/>
            </a:pPr>
            <a:r>
              <a:rPr lang="en-US" sz="2050" b="1" dirty="0">
                <a:latin typeface="Bahnschrift SemiBold" panose="020B0502040204020203" pitchFamily="34" charset="0"/>
              </a:rPr>
              <a:t>CONVOLUTION LAYER                     POOLING LAYER                  NON-LINEAR ACTIVATION UNIT</a:t>
            </a:r>
          </a:p>
        </p:txBody>
      </p:sp>
      <p:cxnSp>
        <p:nvCxnSpPr>
          <p:cNvPr id="165" name="Google Shape;165;p23"/>
          <p:cNvCxnSpPr>
            <a:cxnSpLocks/>
          </p:cNvCxnSpPr>
          <p:nvPr/>
        </p:nvCxnSpPr>
        <p:spPr>
          <a:xfrm>
            <a:off x="2762186" y="2423295"/>
            <a:ext cx="731514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7" name="Google Shape;167;p23"/>
          <p:cNvCxnSpPr/>
          <p:nvPr/>
        </p:nvCxnSpPr>
        <p:spPr>
          <a:xfrm>
            <a:off x="6820243" y="5200049"/>
            <a:ext cx="857452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8" name="Google Shape;168;p23"/>
          <p:cNvCxnSpPr/>
          <p:nvPr/>
        </p:nvCxnSpPr>
        <p:spPr>
          <a:xfrm>
            <a:off x="3539473" y="5200049"/>
            <a:ext cx="857452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4" name="Google Shape;165;p23">
            <a:extLst>
              <a:ext uri="{FF2B5EF4-FFF2-40B4-BE49-F238E27FC236}">
                <a16:creationId xmlns:a16="http://schemas.microsoft.com/office/drawing/2014/main" id="{37E53847-04FB-4855-A9E3-D81ACD3A5535}"/>
              </a:ext>
            </a:extLst>
          </p:cNvPr>
          <p:cNvCxnSpPr>
            <a:cxnSpLocks/>
          </p:cNvCxnSpPr>
          <p:nvPr/>
        </p:nvCxnSpPr>
        <p:spPr>
          <a:xfrm>
            <a:off x="6623943" y="2423295"/>
            <a:ext cx="731514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094F6A-5D47-DFD2-4043-13CAFEE1D3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B1D72217-A837-4525-A6F0-F082226FBB24}"/>
              </a:ext>
            </a:extLst>
          </p:cNvPr>
          <p:cNvGrpSpPr/>
          <p:nvPr/>
        </p:nvGrpSpPr>
        <p:grpSpPr>
          <a:xfrm>
            <a:off x="1874808" y="2018580"/>
            <a:ext cx="8080076" cy="3942274"/>
            <a:chOff x="2802154" y="1640093"/>
            <a:chExt cx="6587691" cy="357781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73C1B16-606F-49CC-A42B-A8EB23D92EA8}"/>
                </a:ext>
              </a:extLst>
            </p:cNvPr>
            <p:cNvSpPr/>
            <p:nvPr/>
          </p:nvSpPr>
          <p:spPr>
            <a:xfrm>
              <a:off x="2894158" y="1943456"/>
              <a:ext cx="1656270" cy="105673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500" dirty="0">
                  <a:latin typeface="Gill Sans MT" panose="020B0502020104020203" pitchFamily="34" charset="0"/>
                </a:rPr>
                <a:t>Conv2D</a:t>
              </a:r>
            </a:p>
            <a:p>
              <a:pPr algn="ctr"/>
              <a:r>
                <a:rPr lang="en-US" sz="1500" dirty="0">
                  <a:latin typeface="Gill Sans MT" panose="020B0502020104020203" pitchFamily="34" charset="0"/>
                </a:rPr>
                <a:t>Conv2D</a:t>
              </a:r>
            </a:p>
            <a:p>
              <a:pPr algn="ctr"/>
              <a:r>
                <a:rPr lang="en-US" sz="1500" dirty="0">
                  <a:latin typeface="Gill Sans MT" panose="020B0502020104020203" pitchFamily="34" charset="0"/>
                </a:rPr>
                <a:t>Max-Pooling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FD06D87-1BFC-4FB4-A81B-BABA4388A933}"/>
                </a:ext>
              </a:extLst>
            </p:cNvPr>
            <p:cNvSpPr/>
            <p:nvPr/>
          </p:nvSpPr>
          <p:spPr>
            <a:xfrm>
              <a:off x="5254919" y="1943456"/>
              <a:ext cx="1725280" cy="105673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500" dirty="0">
                  <a:latin typeface="Gill Sans MT" panose="020B0502020104020203" pitchFamily="34" charset="0"/>
                </a:rPr>
                <a:t>SeparableConv2D</a:t>
              </a:r>
            </a:p>
            <a:p>
              <a:pPr algn="ctr"/>
              <a:r>
                <a:rPr lang="en-US" sz="1500" dirty="0">
                  <a:latin typeface="Gill Sans MT" panose="020B0502020104020203" pitchFamily="34" charset="0"/>
                </a:rPr>
                <a:t>SeparableConv2D</a:t>
              </a:r>
            </a:p>
            <a:p>
              <a:pPr algn="ctr"/>
              <a:r>
                <a:rPr lang="en-US" sz="1500" dirty="0">
                  <a:latin typeface="Gill Sans MT" panose="020B0502020104020203" pitchFamily="34" charset="0"/>
                </a:rPr>
                <a:t>BatchNormalization</a:t>
              </a:r>
            </a:p>
            <a:p>
              <a:pPr algn="ctr"/>
              <a:r>
                <a:rPr lang="en-US" sz="1500" dirty="0">
                  <a:latin typeface="Gill Sans MT" panose="020B0502020104020203" pitchFamily="34" charset="0"/>
                </a:rPr>
                <a:t>Max-Pooling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AFCCCAC-C42F-43C8-9095-98715EBF2490}"/>
                </a:ext>
              </a:extLst>
            </p:cNvPr>
            <p:cNvSpPr/>
            <p:nvPr/>
          </p:nvSpPr>
          <p:spPr>
            <a:xfrm>
              <a:off x="7635809" y="1943456"/>
              <a:ext cx="1754036" cy="105673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500" dirty="0">
                  <a:latin typeface="Gill Sans MT" panose="020B0502020104020203" pitchFamily="34" charset="0"/>
                </a:rPr>
                <a:t>SeparableConv2D</a:t>
              </a:r>
            </a:p>
            <a:p>
              <a:pPr algn="ctr"/>
              <a:r>
                <a:rPr lang="en-US" sz="1500" dirty="0">
                  <a:latin typeface="Gill Sans MT" panose="020B0502020104020203" pitchFamily="34" charset="0"/>
                </a:rPr>
                <a:t>SeparableConv2D</a:t>
              </a:r>
            </a:p>
            <a:p>
              <a:pPr algn="ctr"/>
              <a:r>
                <a:rPr lang="en-US" sz="1500" dirty="0">
                  <a:latin typeface="Gill Sans MT" panose="020B0502020104020203" pitchFamily="34" charset="0"/>
                </a:rPr>
                <a:t>BatchNormalization</a:t>
              </a:r>
            </a:p>
            <a:p>
              <a:pPr algn="ctr"/>
              <a:r>
                <a:rPr lang="en-US" sz="1500" dirty="0">
                  <a:latin typeface="Gill Sans MT" panose="020B0502020104020203" pitchFamily="34" charset="0"/>
                </a:rPr>
                <a:t>Max-Pooling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371B2A6-1100-4526-9CD4-AFC143C659E4}"/>
                </a:ext>
              </a:extLst>
            </p:cNvPr>
            <p:cNvSpPr/>
            <p:nvPr/>
          </p:nvSpPr>
          <p:spPr>
            <a:xfrm>
              <a:off x="7635809" y="3930409"/>
              <a:ext cx="1754036" cy="118325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500" dirty="0">
                  <a:latin typeface="Gill Sans MT" panose="020B0502020104020203" pitchFamily="34" charset="0"/>
                </a:rPr>
                <a:t>SeparableConv2D</a:t>
              </a:r>
            </a:p>
            <a:p>
              <a:pPr algn="ctr"/>
              <a:r>
                <a:rPr lang="en-US" sz="1500" dirty="0">
                  <a:latin typeface="Gill Sans MT" panose="020B0502020104020203" pitchFamily="34" charset="0"/>
                </a:rPr>
                <a:t>SeparableConv2D</a:t>
              </a:r>
            </a:p>
            <a:p>
              <a:pPr algn="ctr"/>
              <a:r>
                <a:rPr lang="en-US" sz="1500" dirty="0">
                  <a:latin typeface="Gill Sans MT" panose="020B0502020104020203" pitchFamily="34" charset="0"/>
                </a:rPr>
                <a:t>BatchNormalization</a:t>
              </a:r>
            </a:p>
            <a:p>
              <a:pPr algn="ctr"/>
              <a:r>
                <a:rPr lang="en-US" sz="1500" dirty="0">
                  <a:latin typeface="Gill Sans MT" panose="020B0502020104020203" pitchFamily="34" charset="0"/>
                </a:rPr>
                <a:t>Max-Pooling</a:t>
              </a:r>
            </a:p>
            <a:p>
              <a:pPr algn="ctr"/>
              <a:r>
                <a:rPr lang="en-US" sz="1500" dirty="0">
                  <a:latin typeface="Gill Sans MT" panose="020B0502020104020203" pitchFamily="34" charset="0"/>
                </a:rPr>
                <a:t>DropOut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7361D3D-EA4A-4302-9E3D-1AAF650773AA}"/>
                </a:ext>
              </a:extLst>
            </p:cNvPr>
            <p:cNvSpPr/>
            <p:nvPr/>
          </p:nvSpPr>
          <p:spPr>
            <a:xfrm>
              <a:off x="5217557" y="3921780"/>
              <a:ext cx="1754036" cy="118325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500" dirty="0">
                  <a:latin typeface="Gill Sans MT" panose="020B0502020104020203" pitchFamily="34" charset="0"/>
                </a:rPr>
                <a:t>SeparableConv2D</a:t>
              </a:r>
            </a:p>
            <a:p>
              <a:pPr algn="ctr"/>
              <a:r>
                <a:rPr lang="en-US" sz="1500" dirty="0">
                  <a:latin typeface="Gill Sans MT" panose="020B0502020104020203" pitchFamily="34" charset="0"/>
                </a:rPr>
                <a:t>SeparableConv2D</a:t>
              </a:r>
            </a:p>
            <a:p>
              <a:pPr algn="ctr"/>
              <a:r>
                <a:rPr lang="en-US" sz="1500" dirty="0">
                  <a:latin typeface="Gill Sans MT" panose="020B0502020104020203" pitchFamily="34" charset="0"/>
                </a:rPr>
                <a:t>BatchNormalization</a:t>
              </a:r>
            </a:p>
            <a:p>
              <a:pPr algn="ctr"/>
              <a:r>
                <a:rPr lang="en-US" sz="1500" dirty="0">
                  <a:latin typeface="Gill Sans MT" panose="020B0502020104020203" pitchFamily="34" charset="0"/>
                </a:rPr>
                <a:t>Max-Pooling</a:t>
              </a:r>
            </a:p>
            <a:p>
              <a:pPr algn="ctr"/>
              <a:r>
                <a:rPr lang="en-US" sz="1500" dirty="0">
                  <a:latin typeface="Gill Sans MT" panose="020B0502020104020203" pitchFamily="34" charset="0"/>
                </a:rPr>
                <a:t>DropOut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84C9CE7-1068-4DFA-A997-CD22D925A357}"/>
                </a:ext>
              </a:extLst>
            </p:cNvPr>
            <p:cNvSpPr/>
            <p:nvPr/>
          </p:nvSpPr>
          <p:spPr>
            <a:xfrm>
              <a:off x="2802154" y="3816120"/>
              <a:ext cx="1754036" cy="140178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500" dirty="0">
                  <a:latin typeface="Gill Sans MT" panose="020B0502020104020203" pitchFamily="34" charset="0"/>
                </a:rPr>
                <a:t>Flatten</a:t>
              </a:r>
              <a:br>
                <a:rPr lang="en-US" sz="1500" dirty="0">
                  <a:latin typeface="Gill Sans MT" panose="020B0502020104020203" pitchFamily="34" charset="0"/>
                </a:rPr>
              </a:br>
              <a:r>
                <a:rPr lang="en-US" sz="1500" dirty="0">
                  <a:latin typeface="Gill Sans MT" panose="020B0502020104020203" pitchFamily="34" charset="0"/>
                </a:rPr>
                <a:t>Dense Layer</a:t>
              </a:r>
              <a:br>
                <a:rPr lang="en-US" sz="1500" dirty="0">
                  <a:latin typeface="Gill Sans MT" panose="020B0502020104020203" pitchFamily="34" charset="0"/>
                </a:rPr>
              </a:br>
              <a:r>
                <a:rPr lang="en-US" sz="1500" dirty="0">
                  <a:latin typeface="Gill Sans MT" panose="020B0502020104020203" pitchFamily="34" charset="0"/>
                </a:rPr>
                <a:t>DropOut</a:t>
              </a:r>
              <a:br>
                <a:rPr lang="en-US" sz="1500" dirty="0">
                  <a:latin typeface="Gill Sans MT" panose="020B0502020104020203" pitchFamily="34" charset="0"/>
                </a:rPr>
              </a:br>
              <a:r>
                <a:rPr lang="en-US" sz="1500" dirty="0">
                  <a:latin typeface="Gill Sans MT" panose="020B0502020104020203" pitchFamily="34" charset="0"/>
                </a:rPr>
                <a:t>Dense Layer</a:t>
              </a:r>
              <a:br>
                <a:rPr lang="en-US" sz="1500" dirty="0">
                  <a:latin typeface="Gill Sans MT" panose="020B0502020104020203" pitchFamily="34" charset="0"/>
                </a:rPr>
              </a:br>
              <a:r>
                <a:rPr lang="en-US" sz="1500" dirty="0">
                  <a:latin typeface="Gill Sans MT" panose="020B0502020104020203" pitchFamily="34" charset="0"/>
                </a:rPr>
                <a:t>DropOut</a:t>
              </a:r>
              <a:br>
                <a:rPr lang="en-US" sz="1500" dirty="0">
                  <a:latin typeface="Gill Sans MT" panose="020B0502020104020203" pitchFamily="34" charset="0"/>
                </a:rPr>
              </a:br>
              <a:r>
                <a:rPr lang="en-US" sz="1500" dirty="0">
                  <a:latin typeface="Gill Sans MT" panose="020B0502020104020203" pitchFamily="34" charset="0"/>
                </a:rPr>
                <a:t>Output Layer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A8BCBA96-A02C-4062-A930-03807A5C1598}"/>
                </a:ext>
              </a:extLst>
            </p:cNvPr>
            <p:cNvSpPr/>
            <p:nvPr/>
          </p:nvSpPr>
          <p:spPr>
            <a:xfrm>
              <a:off x="3252153" y="1640093"/>
              <a:ext cx="983411" cy="303362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>
                  <a:latin typeface="Gill Sans MT" panose="020B0502020104020203" pitchFamily="34" charset="0"/>
                </a:rPr>
                <a:t>Block-1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0A1C3009-D484-411C-92D8-BE2CAF5182AD}"/>
                </a:ext>
              </a:extLst>
            </p:cNvPr>
            <p:cNvSpPr/>
            <p:nvPr/>
          </p:nvSpPr>
          <p:spPr>
            <a:xfrm>
              <a:off x="5625853" y="1640093"/>
              <a:ext cx="983411" cy="303362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>
                  <a:latin typeface="Gill Sans MT" panose="020B0502020104020203" pitchFamily="34" charset="0"/>
                </a:rPr>
                <a:t>Block-2</a:t>
              </a: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629E6EF3-E092-4655-8A76-3093713225EC}"/>
                </a:ext>
              </a:extLst>
            </p:cNvPr>
            <p:cNvSpPr/>
            <p:nvPr/>
          </p:nvSpPr>
          <p:spPr>
            <a:xfrm>
              <a:off x="8021121" y="1648720"/>
              <a:ext cx="983411" cy="303362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>
                  <a:latin typeface="Gill Sans MT" panose="020B0502020104020203" pitchFamily="34" charset="0"/>
                </a:rPr>
                <a:t>Block-3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F5520D5A-9FC8-42DD-89BE-19A3881611B3}"/>
                </a:ext>
              </a:extLst>
            </p:cNvPr>
            <p:cNvSpPr/>
            <p:nvPr/>
          </p:nvSpPr>
          <p:spPr>
            <a:xfrm>
              <a:off x="8021121" y="3634954"/>
              <a:ext cx="983411" cy="303362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>
                  <a:latin typeface="Gill Sans MT" panose="020B0502020104020203" pitchFamily="34" charset="0"/>
                </a:rPr>
                <a:t>Block-4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BD4D1F53-56C3-4A20-A777-5FAF0CEE7F17}"/>
                </a:ext>
              </a:extLst>
            </p:cNvPr>
            <p:cNvSpPr/>
            <p:nvPr/>
          </p:nvSpPr>
          <p:spPr>
            <a:xfrm>
              <a:off x="5591367" y="3623449"/>
              <a:ext cx="983411" cy="303362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>
                  <a:latin typeface="Gill Sans MT" panose="020B0502020104020203" pitchFamily="34" charset="0"/>
                </a:rPr>
                <a:t>Block-5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4C0F2BD0-BA41-4097-A8FD-81DC5C14E9F0}"/>
                </a:ext>
              </a:extLst>
            </p:cNvPr>
            <p:cNvSpPr/>
            <p:nvPr/>
          </p:nvSpPr>
          <p:spPr>
            <a:xfrm>
              <a:off x="3187466" y="3521384"/>
              <a:ext cx="983411" cy="303362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>
                  <a:latin typeface="Gill Sans MT" panose="020B0502020104020203" pitchFamily="34" charset="0"/>
                </a:rPr>
                <a:t>Block-6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4E0CB0AF-772F-40BB-B1A4-67CE721AFC46}"/>
                </a:ext>
              </a:extLst>
            </p:cNvPr>
            <p:cNvCxnSpPr>
              <a:stCxn id="23" idx="3"/>
              <a:endCxn id="24" idx="1"/>
            </p:cNvCxnSpPr>
            <p:nvPr/>
          </p:nvCxnSpPr>
          <p:spPr>
            <a:xfrm>
              <a:off x="4550428" y="2471825"/>
              <a:ext cx="704491" cy="0"/>
            </a:xfrm>
            <a:prstGeom prst="straightConnector1">
              <a:avLst/>
            </a:prstGeom>
            <a:ln cap="sq">
              <a:solidFill>
                <a:schemeClr val="tx1"/>
              </a:solidFill>
              <a:prstDash val="sysDash"/>
              <a:headEnd type="none"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F7BE2EC-5055-4EB3-98B9-6673B00F73D5}"/>
                </a:ext>
              </a:extLst>
            </p:cNvPr>
            <p:cNvCxnSpPr>
              <a:cxnSpLocks/>
              <a:stCxn id="24" idx="3"/>
              <a:endCxn id="25" idx="1"/>
            </p:cNvCxnSpPr>
            <p:nvPr/>
          </p:nvCxnSpPr>
          <p:spPr>
            <a:xfrm>
              <a:off x="6980199" y="2471825"/>
              <a:ext cx="655610" cy="0"/>
            </a:xfrm>
            <a:prstGeom prst="straightConnector1">
              <a:avLst/>
            </a:prstGeom>
            <a:ln cap="sq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889DF9BE-F798-4B6B-9E7E-9B1C93AF68F2}"/>
                </a:ext>
              </a:extLst>
            </p:cNvPr>
            <p:cNvCxnSpPr>
              <a:cxnSpLocks/>
              <a:stCxn id="25" idx="2"/>
              <a:endCxn id="32" idx="0"/>
            </p:cNvCxnSpPr>
            <p:nvPr/>
          </p:nvCxnSpPr>
          <p:spPr>
            <a:xfrm>
              <a:off x="8512827" y="3000194"/>
              <a:ext cx="0" cy="634760"/>
            </a:xfrm>
            <a:prstGeom prst="straightConnector1">
              <a:avLst/>
            </a:prstGeom>
            <a:ln cap="sq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B185E2AE-79B5-4431-9D87-A9F71F930A96}"/>
                </a:ext>
              </a:extLst>
            </p:cNvPr>
            <p:cNvCxnSpPr>
              <a:cxnSpLocks/>
              <a:stCxn id="27" idx="1"/>
              <a:endCxn id="28" idx="3"/>
            </p:cNvCxnSpPr>
            <p:nvPr/>
          </p:nvCxnSpPr>
          <p:spPr>
            <a:xfrm flipH="1">
              <a:off x="4556190" y="4513408"/>
              <a:ext cx="661367" cy="3605"/>
            </a:xfrm>
            <a:prstGeom prst="straightConnector1">
              <a:avLst/>
            </a:prstGeom>
            <a:ln cap="sq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58C1A74-49C3-4AB5-A33C-16A7CBE3149C}"/>
                </a:ext>
              </a:extLst>
            </p:cNvPr>
            <p:cNvCxnSpPr>
              <a:cxnSpLocks/>
              <a:stCxn id="26" idx="1"/>
              <a:endCxn id="27" idx="3"/>
            </p:cNvCxnSpPr>
            <p:nvPr/>
          </p:nvCxnSpPr>
          <p:spPr>
            <a:xfrm flipH="1" flipV="1">
              <a:off x="6971593" y="4513408"/>
              <a:ext cx="664216" cy="8629"/>
            </a:xfrm>
            <a:prstGeom prst="straightConnector1">
              <a:avLst/>
            </a:prstGeom>
            <a:ln cap="sq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Google Shape;163;p23">
            <a:extLst>
              <a:ext uri="{FF2B5EF4-FFF2-40B4-BE49-F238E27FC236}">
                <a16:creationId xmlns:a16="http://schemas.microsoft.com/office/drawing/2014/main" id="{E5CFDDA7-65A2-4342-A46F-A2E91F984DAD}"/>
              </a:ext>
            </a:extLst>
          </p:cNvPr>
          <p:cNvSpPr txBox="1">
            <a:spLocks/>
          </p:cNvSpPr>
          <p:nvPr/>
        </p:nvSpPr>
        <p:spPr>
          <a:xfrm>
            <a:off x="1249680" y="4390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0D5672"/>
              </a:buClr>
              <a:buSzPts val="4800"/>
            </a:pPr>
            <a:r>
              <a:rPr lang="en-US" b="1" dirty="0">
                <a:solidFill>
                  <a:srgbClr val="0D5672"/>
                </a:solidFill>
              </a:rPr>
              <a:t>CNN ARCHITECTURE: DEBRIEF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4A6CFE-22CB-A417-0581-24C5A8A250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2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D5672"/>
              </a:buClr>
              <a:buSzPts val="4800"/>
              <a:buFont typeface="Calibri"/>
              <a:buNone/>
            </a:pPr>
            <a:r>
              <a:rPr lang="en-US" b="1" dirty="0">
                <a:solidFill>
                  <a:srgbClr val="0D5672"/>
                </a:solidFill>
              </a:rPr>
              <a:t>TRANSFER LEARNING </a:t>
            </a:r>
            <a:endParaRPr dirty="0"/>
          </a:p>
        </p:txBody>
      </p:sp>
      <p:sp>
        <p:nvSpPr>
          <p:cNvPr id="200" name="Google Shape;200;p27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433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27000" algn="just">
              <a:lnSpc>
                <a:spcPct val="80000"/>
              </a:lnSpc>
              <a:spcBef>
                <a:spcPts val="0"/>
              </a:spcBef>
              <a:buSzPts val="2000"/>
              <a:buFont typeface="Noto Sans Symbols"/>
              <a:buChar char="▪"/>
            </a:pPr>
            <a:r>
              <a:rPr lang="en-US" sz="1800" i="1" u="sng" dirty="0"/>
              <a:t>Intuition:</a:t>
            </a:r>
            <a:r>
              <a:rPr lang="en-US" sz="1800" i="1" dirty="0"/>
              <a:t> </a:t>
            </a:r>
            <a:r>
              <a:rPr lang="en-US" sz="1800" dirty="0"/>
              <a:t>What has been learned in one setting is exploited to improve generalization in another setting </a:t>
            </a:r>
          </a:p>
          <a:p>
            <a:pPr marL="0" lvl="0" indent="0" algn="just">
              <a:lnSpc>
                <a:spcPct val="80000"/>
              </a:lnSpc>
              <a:spcBef>
                <a:spcPts val="0"/>
              </a:spcBef>
              <a:buSzPts val="2000"/>
              <a:buNone/>
            </a:pPr>
            <a:endParaRPr lang="en-US" sz="1800" dirty="0"/>
          </a:p>
          <a:p>
            <a:pPr marL="91440" lvl="0" indent="-12700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2400" b="1" dirty="0"/>
              <a:t>Why Transfer Learning?</a:t>
            </a:r>
            <a:endParaRPr sz="1800" dirty="0"/>
          </a:p>
          <a:p>
            <a:pPr marL="566928" lvl="2" indent="-182880" algn="just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900"/>
              <a:buFont typeface="Noto Sans Symbols"/>
              <a:buChar char="▪"/>
            </a:pPr>
            <a:r>
              <a:rPr lang="en-US" sz="1800" dirty="0"/>
              <a:t>CNNs are data-hungry: require significant amounts of data and Resources to train</a:t>
            </a:r>
            <a:endParaRPr sz="1200" dirty="0"/>
          </a:p>
          <a:p>
            <a:pPr marL="566928" lvl="2" indent="-182880" algn="just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900"/>
              <a:buFont typeface="Noto Sans Symbols"/>
              <a:buChar char="▪"/>
            </a:pPr>
            <a:r>
              <a:rPr lang="en-US" sz="1800" dirty="0"/>
              <a:t>ImageNet ILSVRC Model was trained on 1.2 million images over the period of 2–3 weeks across multiple GPUs</a:t>
            </a:r>
            <a:endParaRPr sz="1200" dirty="0"/>
          </a:p>
          <a:p>
            <a:pPr marL="566928" lvl="2" indent="-182880" algn="just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900"/>
              <a:buFont typeface="Noto Sans Symbols"/>
              <a:buChar char="▪"/>
            </a:pPr>
            <a:r>
              <a:rPr lang="en-US" sz="1800" dirty="0"/>
              <a:t>We can make use of the features learned in those pre trained model</a:t>
            </a:r>
            <a:endParaRPr sz="1200" dirty="0"/>
          </a:p>
          <a:p>
            <a:pPr marL="91440" lvl="0" indent="-158750" algn="just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Noto Sans Symbols"/>
              <a:buChar char="▪"/>
            </a:pPr>
            <a:r>
              <a:rPr lang="en-US" sz="2400" b="1" dirty="0"/>
              <a:t> Advantages of transfer learning</a:t>
            </a:r>
            <a:endParaRPr sz="1800" dirty="0"/>
          </a:p>
          <a:p>
            <a:pPr marL="669798" lvl="2" indent="-285750" algn="just">
              <a:lnSpc>
                <a:spcPct val="80000"/>
              </a:lnSpc>
              <a:buSzPts val="1900"/>
              <a:buFont typeface="Wingdings" panose="05000000000000000000" pitchFamily="2" charset="2"/>
              <a:buChar char="§"/>
            </a:pPr>
            <a:r>
              <a:rPr lang="en-US" sz="1800" dirty="0"/>
              <a:t>Reduces the training time and data needed to achieve a custom task</a:t>
            </a:r>
          </a:p>
          <a:p>
            <a:pPr marL="669798" lvl="2" indent="-285750" algn="just">
              <a:lnSpc>
                <a:spcPct val="80000"/>
              </a:lnSpc>
              <a:buSzPts val="1900"/>
              <a:buFont typeface="Wingdings" panose="05000000000000000000" pitchFamily="2" charset="2"/>
              <a:buChar char="§"/>
            </a:pPr>
            <a:r>
              <a:rPr lang="en-US" sz="1800" dirty="0"/>
              <a:t>Very popular in Computer Vision; often produces robust models with improvement in Metrics</a:t>
            </a:r>
            <a:endParaRPr sz="1200" dirty="0"/>
          </a:p>
          <a:p>
            <a:pPr marL="91440" lvl="0" indent="-158750" algn="just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Noto Sans Symbols"/>
              <a:buChar char="▪"/>
            </a:pPr>
            <a:r>
              <a:rPr lang="en-US" sz="2400" b="1" dirty="0"/>
              <a:t> How to use it?</a:t>
            </a:r>
          </a:p>
          <a:p>
            <a:pPr marL="389890" lvl="1" indent="0" algn="just">
              <a:lnSpc>
                <a:spcPct val="80000"/>
              </a:lnSpc>
              <a:spcBef>
                <a:spcPts val="1600"/>
              </a:spcBef>
              <a:buSzPts val="2500"/>
              <a:buNone/>
            </a:pPr>
            <a:r>
              <a:rPr lang="en-US" sz="1600" dirty="0"/>
              <a:t>It takes a CNN that has been pre-trained (typically ImageNet), removes the last fully-connected layer and replaces it with our custom fully-connected layer, treating the original CNN as a feature extractor for the new dataset. Once replaced, the last fully-connected layer we train the classifier for the new dataset</a:t>
            </a:r>
            <a:endParaRPr sz="1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08E9397-6481-466C-81C0-459231D1CA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96" t="9692" r="13370" b="9259"/>
          <a:stretch/>
        </p:blipFill>
        <p:spPr bwMode="auto">
          <a:xfrm>
            <a:off x="9161252" y="177882"/>
            <a:ext cx="2510288" cy="1449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750518-113E-83AC-05C3-61ED02087A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>
            <a:spLocks noGrp="1"/>
          </p:cNvSpPr>
          <p:nvPr>
            <p:ph type="title" idx="4294967295"/>
          </p:nvPr>
        </p:nvSpPr>
        <p:spPr>
          <a:xfrm>
            <a:off x="1066800" y="2173288"/>
            <a:ext cx="10058400" cy="1449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ctr">
              <a:buClr>
                <a:srgbClr val="0D5672"/>
              </a:buClr>
              <a:buSzPts val="4800"/>
            </a:pPr>
            <a:r>
              <a:rPr lang="en-US" sz="5600" b="1" dirty="0">
                <a:solidFill>
                  <a:srgbClr val="0D5672"/>
                </a:solidFill>
              </a:rPr>
              <a:t>MODEL RESULTS</a:t>
            </a:r>
            <a:endParaRPr sz="5600" b="1" dirty="0">
              <a:solidFill>
                <a:srgbClr val="0D5672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45D1FD-8842-C7A5-E8A5-31A427C898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815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>
            <a:spLocks noGrp="1"/>
          </p:cNvSpPr>
          <p:nvPr>
            <p:ph type="title" idx="4294967295"/>
          </p:nvPr>
        </p:nvSpPr>
        <p:spPr>
          <a:xfrm>
            <a:off x="2155196" y="757145"/>
            <a:ext cx="2785368" cy="4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D5672"/>
              </a:buClr>
              <a:buSzPts val="4800"/>
              <a:buFont typeface="Calibri"/>
              <a:buNone/>
            </a:pPr>
            <a:r>
              <a:rPr lang="en-US" sz="2600" b="1" dirty="0">
                <a:solidFill>
                  <a:srgbClr val="0D5672"/>
                </a:solidFill>
              </a:rPr>
              <a:t>VGG16 MODEL</a:t>
            </a:r>
            <a:endParaRPr sz="2600" dirty="0"/>
          </a:p>
        </p:txBody>
      </p:sp>
      <p:pic>
        <p:nvPicPr>
          <p:cNvPr id="206" name="Google Shape;20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195" y="1223575"/>
            <a:ext cx="3100815" cy="2080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194" y="3553441"/>
            <a:ext cx="2778731" cy="2508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8"/>
          <p:cNvPicPr preferRelativeResize="0"/>
          <p:nvPr/>
        </p:nvPicPr>
        <p:blipFill rotWithShape="1">
          <a:blip r:embed="rId5">
            <a:alphaModFix/>
          </a:blip>
          <a:srcRect l="49330"/>
          <a:stretch/>
        </p:blipFill>
        <p:spPr>
          <a:xfrm>
            <a:off x="3595818" y="1269311"/>
            <a:ext cx="2152125" cy="1408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8"/>
          <p:cNvSpPr txBox="1"/>
          <p:nvPr/>
        </p:nvSpPr>
        <p:spPr>
          <a:xfrm>
            <a:off x="3399489" y="4180188"/>
            <a:ext cx="2600588" cy="161904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cs typeface="Roboto Mono"/>
                <a:sym typeface="Roboto Mono"/>
              </a:rPr>
              <a:t>TEST METRICS</a:t>
            </a:r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cs typeface="Roboto Mono"/>
                <a:sym typeface="Roboto Mono"/>
              </a:rPr>
              <a:t>Accuracy: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cs typeface="Roboto Mono"/>
                <a:sym typeface="Roboto Mono"/>
              </a:rPr>
              <a:t>90.71%</a:t>
            </a:r>
            <a:endParaRPr sz="1050" dirty="0">
              <a:solidFill>
                <a:schemeClr val="bg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cs typeface="Roboto Mono"/>
                <a:sym typeface="Roboto Mono"/>
              </a:rPr>
              <a:t>Precision: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cs typeface="Roboto Mono"/>
                <a:sym typeface="Roboto Mono"/>
              </a:rPr>
              <a:t>87.55%</a:t>
            </a:r>
            <a:endParaRPr sz="1050" dirty="0">
              <a:solidFill>
                <a:schemeClr val="bg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cs typeface="Roboto Mono"/>
                <a:sym typeface="Roboto Mono"/>
              </a:rPr>
              <a:t>Recall: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cs typeface="Roboto Mono"/>
                <a:sym typeface="Roboto Mono"/>
              </a:rPr>
              <a:t>99.23%</a:t>
            </a:r>
            <a:endParaRPr sz="1050" dirty="0">
              <a:solidFill>
                <a:schemeClr val="bg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cs typeface="Roboto Mono"/>
                <a:sym typeface="Roboto Mono"/>
              </a:rPr>
              <a:t>F1-score: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cs typeface="Roboto Mono"/>
                <a:sym typeface="Roboto Mono"/>
              </a:rPr>
              <a:t>93.02%</a:t>
            </a:r>
            <a:endParaRPr sz="1050" dirty="0">
              <a:solidFill>
                <a:schemeClr val="bg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chemeClr val="bg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7" name="Google Shape;208;p28">
            <a:extLst>
              <a:ext uri="{FF2B5EF4-FFF2-40B4-BE49-F238E27FC236}">
                <a16:creationId xmlns:a16="http://schemas.microsoft.com/office/drawing/2014/main" id="{87635FD1-E977-495F-9252-5A9A3F6F2BD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r="50517"/>
          <a:stretch/>
        </p:blipFill>
        <p:spPr>
          <a:xfrm>
            <a:off x="3647390" y="2708629"/>
            <a:ext cx="2011680" cy="1440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17;p29">
            <a:extLst>
              <a:ext uri="{FF2B5EF4-FFF2-40B4-BE49-F238E27FC236}">
                <a16:creationId xmlns:a16="http://schemas.microsoft.com/office/drawing/2014/main" id="{50159651-B825-45A0-BB09-B341F7B0A28B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64352" y="1223574"/>
            <a:ext cx="2803075" cy="2080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216;p29">
            <a:extLst>
              <a:ext uri="{FF2B5EF4-FFF2-40B4-BE49-F238E27FC236}">
                <a16:creationId xmlns:a16="http://schemas.microsoft.com/office/drawing/2014/main" id="{539DE2FD-BD8A-4C1D-ADAF-2BAA89319A5D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14285" y="3429000"/>
            <a:ext cx="2903211" cy="26332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E9BE965-F2F2-4C83-9773-B42672CA4F16}"/>
              </a:ext>
            </a:extLst>
          </p:cNvPr>
          <p:cNvCxnSpPr>
            <a:cxnSpLocks/>
          </p:cNvCxnSpPr>
          <p:nvPr/>
        </p:nvCxnSpPr>
        <p:spPr>
          <a:xfrm>
            <a:off x="6252210" y="918041"/>
            <a:ext cx="0" cy="51442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22061377-50B8-414D-AF2F-E0122959AAF0}"/>
              </a:ext>
            </a:extLst>
          </p:cNvPr>
          <p:cNvSpPr/>
          <p:nvPr/>
        </p:nvSpPr>
        <p:spPr>
          <a:xfrm>
            <a:off x="7760997" y="736291"/>
            <a:ext cx="347242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b="1" dirty="0">
                <a:solidFill>
                  <a:srgbClr val="0D567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INCEPTION-V3</a:t>
            </a:r>
            <a:r>
              <a:rPr lang="en-US" sz="2600" b="1" dirty="0">
                <a:solidFill>
                  <a:srgbClr val="0D5672"/>
                </a:solidFill>
              </a:rPr>
              <a:t> MODEL</a:t>
            </a:r>
            <a:endParaRPr lang="en-US" sz="2600" dirty="0"/>
          </a:p>
        </p:txBody>
      </p:sp>
      <p:pic>
        <p:nvPicPr>
          <p:cNvPr id="15" name="Google Shape;215;p29">
            <a:extLst>
              <a:ext uri="{FF2B5EF4-FFF2-40B4-BE49-F238E27FC236}">
                <a16:creationId xmlns:a16="http://schemas.microsoft.com/office/drawing/2014/main" id="{4E9D39EB-2EE1-49E3-ACAA-162CDEFC7A0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r="49393"/>
          <a:stretch/>
        </p:blipFill>
        <p:spPr>
          <a:xfrm>
            <a:off x="9372828" y="2613641"/>
            <a:ext cx="2110444" cy="1587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15;p29">
            <a:extLst>
              <a:ext uri="{FF2B5EF4-FFF2-40B4-BE49-F238E27FC236}">
                <a16:creationId xmlns:a16="http://schemas.microsoft.com/office/drawing/2014/main" id="{A40284AB-11AF-4A7C-ADEC-E8EEB3744E59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l="49393"/>
          <a:stretch/>
        </p:blipFill>
        <p:spPr>
          <a:xfrm>
            <a:off x="9372828" y="1187025"/>
            <a:ext cx="2217188" cy="148505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209;p28">
            <a:extLst>
              <a:ext uri="{FF2B5EF4-FFF2-40B4-BE49-F238E27FC236}">
                <a16:creationId xmlns:a16="http://schemas.microsoft.com/office/drawing/2014/main" id="{7293DF54-5229-4777-B79F-87E92D9A549D}"/>
              </a:ext>
            </a:extLst>
          </p:cNvPr>
          <p:cNvSpPr txBox="1"/>
          <p:nvPr/>
        </p:nvSpPr>
        <p:spPr>
          <a:xfrm>
            <a:off x="9372828" y="4180187"/>
            <a:ext cx="2600588" cy="161904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70000"/>
              </a:lnSpc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TEST METRICS</a:t>
            </a:r>
          </a:p>
          <a:p>
            <a:pPr>
              <a:lnSpc>
                <a:spcPct val="170000"/>
              </a:lnSpc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Accuracy: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90.06%</a:t>
            </a:r>
          </a:p>
          <a:p>
            <a:pPr>
              <a:lnSpc>
                <a:spcPct val="170000"/>
              </a:lnSpc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Precision: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87.27%</a:t>
            </a:r>
          </a:p>
          <a:p>
            <a:pPr>
              <a:lnSpc>
                <a:spcPct val="170000"/>
              </a:lnSpc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Recall: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98.46%</a:t>
            </a:r>
          </a:p>
          <a:p>
            <a:pPr>
              <a:lnSpc>
                <a:spcPct val="170000"/>
              </a:lnSpc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F1-score: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92.53%</a:t>
            </a:r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chemeClr val="bg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" name="Google Shape;205;p28">
            <a:extLst>
              <a:ext uri="{FF2B5EF4-FFF2-40B4-BE49-F238E27FC236}">
                <a16:creationId xmlns:a16="http://schemas.microsoft.com/office/drawing/2014/main" id="{A65A3006-2EDA-4D71-970E-B5C8B93E2B5D}"/>
              </a:ext>
            </a:extLst>
          </p:cNvPr>
          <p:cNvSpPr txBox="1">
            <a:spLocks/>
          </p:cNvSpPr>
          <p:nvPr/>
        </p:nvSpPr>
        <p:spPr>
          <a:xfrm>
            <a:off x="2852602" y="8123"/>
            <a:ext cx="6799218" cy="59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0D5672"/>
              </a:buClr>
            </a:pPr>
            <a:r>
              <a:rPr lang="en-US" sz="3000" b="1" u="sng" dirty="0">
                <a:solidFill>
                  <a:schemeClr val="accent2"/>
                </a:solidFill>
              </a:rPr>
              <a:t>NORMAL VS PNEUMONIA RESULTS</a:t>
            </a:r>
            <a:endParaRPr lang="en-US" sz="3000" u="sng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83F035-09F5-493E-82F1-C88060611CB3}"/>
              </a:ext>
            </a:extLst>
          </p:cNvPr>
          <p:cNvSpPr txBox="1"/>
          <p:nvPr/>
        </p:nvSpPr>
        <p:spPr>
          <a:xfrm>
            <a:off x="3289538" y="5839245"/>
            <a:ext cx="28087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7030A0"/>
                </a:solidFill>
              </a:rPr>
              <a:t>BENCHMARK  RECALL VALUE : 93.2%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1AEC63-E263-4610-9E17-B02174E96521}"/>
              </a:ext>
            </a:extLst>
          </p:cNvPr>
          <p:cNvSpPr txBox="1"/>
          <p:nvPr/>
        </p:nvSpPr>
        <p:spPr>
          <a:xfrm>
            <a:off x="9229329" y="6055930"/>
            <a:ext cx="29626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00B050"/>
                </a:solidFill>
              </a:rPr>
              <a:t>ACHIEVED  BETTER THAN BENCHMARK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62EF8E-20CA-49A4-BB18-79E9A1D61FEB}"/>
              </a:ext>
            </a:extLst>
          </p:cNvPr>
          <p:cNvSpPr txBox="1"/>
          <p:nvPr/>
        </p:nvSpPr>
        <p:spPr>
          <a:xfrm>
            <a:off x="9229329" y="5800684"/>
            <a:ext cx="28087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7030A0"/>
                </a:solidFill>
              </a:rPr>
              <a:t>BENCHMARK  RECALL VALUE : 93.2%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E48336-8189-4339-BEAB-9147BC3E9DEB}"/>
              </a:ext>
            </a:extLst>
          </p:cNvPr>
          <p:cNvSpPr txBox="1"/>
          <p:nvPr/>
        </p:nvSpPr>
        <p:spPr>
          <a:xfrm>
            <a:off x="3289539" y="6062294"/>
            <a:ext cx="29626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00B050"/>
                </a:solidFill>
              </a:rPr>
              <a:t>ACHIEVED  BETTER THAN BENCHMARK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7204F-ADB5-A49A-3364-1D05ED6704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828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>
            <a:spLocks noGrp="1"/>
          </p:cNvSpPr>
          <p:nvPr>
            <p:ph type="title" idx="4294967295"/>
          </p:nvPr>
        </p:nvSpPr>
        <p:spPr>
          <a:xfrm>
            <a:off x="1265308" y="715722"/>
            <a:ext cx="4338580" cy="492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 algn="ctr">
              <a:buClr>
                <a:srgbClr val="0D5672"/>
              </a:buClr>
            </a:pPr>
            <a:br>
              <a:rPr lang="en-US" sz="2800" dirty="0"/>
            </a:br>
            <a:r>
              <a:rPr lang="en-US" sz="2600" b="1" dirty="0">
                <a:solidFill>
                  <a:srgbClr val="0D5672"/>
                </a:solidFill>
              </a:rPr>
              <a:t>DENSENET</a:t>
            </a:r>
            <a:r>
              <a:rPr lang="en-US" sz="2800" b="1" dirty="0">
                <a:solidFill>
                  <a:srgbClr val="0D5672"/>
                </a:solidFill>
              </a:rPr>
              <a:t> MODEL</a:t>
            </a:r>
            <a:endParaRPr lang="en-US" sz="2600" dirty="0"/>
          </a:p>
        </p:txBody>
      </p:sp>
      <p:sp>
        <p:nvSpPr>
          <p:cNvPr id="209" name="Google Shape;209;p28"/>
          <p:cNvSpPr txBox="1"/>
          <p:nvPr/>
        </p:nvSpPr>
        <p:spPr>
          <a:xfrm>
            <a:off x="3399489" y="4180188"/>
            <a:ext cx="2600588" cy="161904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cs typeface="Roboto Mono"/>
                <a:sym typeface="Roboto Mono"/>
              </a:rPr>
              <a:t>Test metrics</a:t>
            </a:r>
            <a:endParaRPr sz="1050" b="1" dirty="0">
              <a:solidFill>
                <a:schemeClr val="bg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cs typeface="Roboto Mono"/>
                <a:sym typeface="Roboto Mono"/>
              </a:rPr>
              <a:t>Accuracy: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cs typeface="Roboto Mono"/>
                <a:sym typeface="Roboto Mono"/>
              </a:rPr>
              <a:t>91.34%</a:t>
            </a:r>
            <a:endParaRPr sz="1050" dirty="0">
              <a:solidFill>
                <a:schemeClr val="bg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cs typeface="Roboto Mono"/>
                <a:sym typeface="Roboto Mono"/>
              </a:rPr>
              <a:t>Precision: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cs typeface="Roboto Mono"/>
                <a:sym typeface="Roboto Mono"/>
              </a:rPr>
              <a:t>90.77%</a:t>
            </a:r>
            <a:endParaRPr sz="1050" dirty="0">
              <a:solidFill>
                <a:schemeClr val="bg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cs typeface="Roboto Mono"/>
                <a:sym typeface="Roboto Mono"/>
              </a:rPr>
              <a:t>Recall: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cs typeface="Roboto Mono"/>
                <a:sym typeface="Roboto Mono"/>
              </a:rPr>
              <a:t>95.89%</a:t>
            </a:r>
            <a:endParaRPr sz="1050" dirty="0">
              <a:solidFill>
                <a:schemeClr val="bg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cs typeface="Roboto Mono"/>
                <a:sym typeface="Roboto Mono"/>
              </a:rPr>
              <a:t>F1-score: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cs typeface="Roboto Mono"/>
                <a:sym typeface="Roboto Mono"/>
              </a:rPr>
              <a:t>93.26%</a:t>
            </a:r>
            <a:endParaRPr sz="1050" dirty="0">
              <a:solidFill>
                <a:schemeClr val="bg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chemeClr val="bg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E9BE965-F2F2-4C83-9773-B42672CA4F16}"/>
              </a:ext>
            </a:extLst>
          </p:cNvPr>
          <p:cNvCxnSpPr>
            <a:cxnSpLocks/>
          </p:cNvCxnSpPr>
          <p:nvPr/>
        </p:nvCxnSpPr>
        <p:spPr>
          <a:xfrm>
            <a:off x="6252210" y="918041"/>
            <a:ext cx="0" cy="51442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22061377-50B8-414D-AF2F-E0122959AAF0}"/>
              </a:ext>
            </a:extLst>
          </p:cNvPr>
          <p:cNvSpPr/>
          <p:nvPr/>
        </p:nvSpPr>
        <p:spPr>
          <a:xfrm>
            <a:off x="7760997" y="736291"/>
            <a:ext cx="287129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b="1" dirty="0">
                <a:solidFill>
                  <a:srgbClr val="0D567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RESNET50</a:t>
            </a:r>
            <a:r>
              <a:rPr lang="en-US" sz="2600" b="1" dirty="0">
                <a:solidFill>
                  <a:srgbClr val="0D5672"/>
                </a:solidFill>
              </a:rPr>
              <a:t> MODEL</a:t>
            </a:r>
            <a:endParaRPr lang="en-US" sz="2600" dirty="0"/>
          </a:p>
        </p:txBody>
      </p:sp>
      <p:sp>
        <p:nvSpPr>
          <p:cNvPr id="17" name="Google Shape;209;p28">
            <a:extLst>
              <a:ext uri="{FF2B5EF4-FFF2-40B4-BE49-F238E27FC236}">
                <a16:creationId xmlns:a16="http://schemas.microsoft.com/office/drawing/2014/main" id="{7293DF54-5229-4777-B79F-87E92D9A549D}"/>
              </a:ext>
            </a:extLst>
          </p:cNvPr>
          <p:cNvSpPr txBox="1"/>
          <p:nvPr/>
        </p:nvSpPr>
        <p:spPr>
          <a:xfrm>
            <a:off x="9372828" y="4180187"/>
            <a:ext cx="2600588" cy="161904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70000"/>
              </a:lnSpc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Test metrics:</a:t>
            </a:r>
          </a:p>
          <a:p>
            <a:pPr>
              <a:lnSpc>
                <a:spcPct val="170000"/>
              </a:lnSpc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Accuracy: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92.95%      </a:t>
            </a: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Precision: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92.95%         </a:t>
            </a: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Recall: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95.64%</a:t>
            </a:r>
          </a:p>
          <a:p>
            <a:pPr>
              <a:lnSpc>
                <a:spcPct val="170000"/>
              </a:lnSpc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F1-score: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94.43%</a:t>
            </a:r>
            <a:endParaRPr sz="1050" dirty="0">
              <a:solidFill>
                <a:schemeClr val="bg2"/>
              </a:solidFill>
              <a:latin typeface="Roboto Mono"/>
              <a:ea typeface="Roboto Mono"/>
              <a:sym typeface="Roboto Mono"/>
            </a:endParaRPr>
          </a:p>
        </p:txBody>
      </p:sp>
      <p:sp>
        <p:nvSpPr>
          <p:cNvPr id="18" name="Google Shape;205;p28">
            <a:extLst>
              <a:ext uri="{FF2B5EF4-FFF2-40B4-BE49-F238E27FC236}">
                <a16:creationId xmlns:a16="http://schemas.microsoft.com/office/drawing/2014/main" id="{A65A3006-2EDA-4D71-970E-B5C8B93E2B5D}"/>
              </a:ext>
            </a:extLst>
          </p:cNvPr>
          <p:cNvSpPr txBox="1">
            <a:spLocks/>
          </p:cNvSpPr>
          <p:nvPr/>
        </p:nvSpPr>
        <p:spPr>
          <a:xfrm>
            <a:off x="1177291" y="8123"/>
            <a:ext cx="9715495" cy="59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0D5672"/>
              </a:buClr>
            </a:pPr>
            <a:r>
              <a:rPr lang="en-US" sz="3000" b="1" u="sng" dirty="0">
                <a:solidFill>
                  <a:schemeClr val="accent2"/>
                </a:solidFill>
              </a:rPr>
              <a:t>NORMAL VS PNEUMONIA RESULTS</a:t>
            </a:r>
            <a:endParaRPr lang="en-US" sz="3000" u="sng" dirty="0">
              <a:solidFill>
                <a:schemeClr val="accent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851435-3788-43DB-8632-C89F8E4E0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072" y="2741197"/>
            <a:ext cx="1876323" cy="13203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141FCF3-25D6-4CFD-B32D-8781A78ED3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8292" y="1262359"/>
            <a:ext cx="1923774" cy="14079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04545ED-7748-47B6-874E-FC81696D08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038" y="3490167"/>
            <a:ext cx="2600584" cy="26087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D2ADD8B-64DB-4F89-BC3A-1690020074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392" y="1289514"/>
            <a:ext cx="3088766" cy="21244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0061360-A43D-4D29-97B1-58307F5764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7065" y="1305771"/>
            <a:ext cx="2795228" cy="199570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7015C0C-3F1B-44CF-928D-35A3C5BDF2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01959" y="1296765"/>
            <a:ext cx="1942325" cy="140769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EEE1C72-CBCC-4B2C-9602-DED96A845A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60530" y="2730059"/>
            <a:ext cx="1860908" cy="128941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E7A07D3-F65F-4F00-B659-C7C94869F96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9983" y="3398633"/>
            <a:ext cx="2782310" cy="274654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E142DD4-4EAA-45C9-8B7F-6C1E45F95ECA}"/>
              </a:ext>
            </a:extLst>
          </p:cNvPr>
          <p:cNvSpPr txBox="1"/>
          <p:nvPr/>
        </p:nvSpPr>
        <p:spPr>
          <a:xfrm>
            <a:off x="3289538" y="5839245"/>
            <a:ext cx="28087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7030A0"/>
                </a:solidFill>
              </a:rPr>
              <a:t>BENCHMARK  RECALL VALUE : 93.2%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2C93DE-7C8E-4FEF-B8AF-C09E028A4BF2}"/>
              </a:ext>
            </a:extLst>
          </p:cNvPr>
          <p:cNvSpPr txBox="1"/>
          <p:nvPr/>
        </p:nvSpPr>
        <p:spPr>
          <a:xfrm>
            <a:off x="3274546" y="6062294"/>
            <a:ext cx="29626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00B050"/>
                </a:solidFill>
              </a:rPr>
              <a:t>ACHIEVED  BETTER THAN BENCHMARK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8B3A36-02AA-4156-8EC4-7CF5BEB2D334}"/>
              </a:ext>
            </a:extLst>
          </p:cNvPr>
          <p:cNvSpPr txBox="1"/>
          <p:nvPr/>
        </p:nvSpPr>
        <p:spPr>
          <a:xfrm>
            <a:off x="9310065" y="5829140"/>
            <a:ext cx="28087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7030A0"/>
                </a:solidFill>
              </a:rPr>
              <a:t>BENCHMARK  RECALL VALUE : 93.2%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F698A67-528F-4A6B-A3C1-370D44BFCAFB}"/>
              </a:ext>
            </a:extLst>
          </p:cNvPr>
          <p:cNvSpPr txBox="1"/>
          <p:nvPr/>
        </p:nvSpPr>
        <p:spPr>
          <a:xfrm>
            <a:off x="9325059" y="6057603"/>
            <a:ext cx="29626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00B050"/>
                </a:solidFill>
              </a:rPr>
              <a:t>ACHIEVED  BETTER THAN BENCHMARK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1A2673-5484-8890-E964-505E438502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>
            <a:spLocks noGrp="1"/>
          </p:cNvSpPr>
          <p:nvPr>
            <p:ph type="title" idx="4294967295"/>
          </p:nvPr>
        </p:nvSpPr>
        <p:spPr>
          <a:xfrm>
            <a:off x="2155196" y="757145"/>
            <a:ext cx="2785368" cy="4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D5672"/>
              </a:buClr>
              <a:buSzPts val="4800"/>
              <a:buFont typeface="Calibri"/>
              <a:buNone/>
            </a:pPr>
            <a:r>
              <a:rPr lang="en-US" sz="2600" b="1" dirty="0">
                <a:solidFill>
                  <a:srgbClr val="0D5672"/>
                </a:solidFill>
              </a:rPr>
              <a:t>VGG16 MODEL</a:t>
            </a:r>
            <a:endParaRPr sz="2600" dirty="0"/>
          </a:p>
        </p:txBody>
      </p:sp>
      <p:sp>
        <p:nvSpPr>
          <p:cNvPr id="209" name="Google Shape;209;p28"/>
          <p:cNvSpPr txBox="1"/>
          <p:nvPr/>
        </p:nvSpPr>
        <p:spPr>
          <a:xfrm>
            <a:off x="3399489" y="4180188"/>
            <a:ext cx="2600588" cy="161904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cs typeface="Roboto Mono"/>
                <a:sym typeface="Roboto Mono"/>
              </a:rPr>
              <a:t>Test metrics</a:t>
            </a:r>
          </a:p>
          <a:p>
            <a:pPr lvl="0">
              <a:lnSpc>
                <a:spcPct val="170000"/>
              </a:lnSpc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cs typeface="Roboto Mono"/>
                <a:sym typeface="Roboto Mono"/>
              </a:rPr>
              <a:t>Accuracy: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cs typeface="Roboto Mono"/>
                <a:sym typeface="Roboto Mono"/>
              </a:rPr>
              <a:t>87.43%</a:t>
            </a:r>
          </a:p>
          <a:p>
            <a:pPr lvl="0">
              <a:lnSpc>
                <a:spcPct val="170000"/>
              </a:lnSpc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cs typeface="Roboto Mono"/>
                <a:sym typeface="Roboto Mono"/>
              </a:rPr>
              <a:t>Precision: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cs typeface="Roboto Mono"/>
                <a:sym typeface="Roboto Mono"/>
              </a:rPr>
              <a:t>100.0%</a:t>
            </a:r>
          </a:p>
          <a:p>
            <a:pPr lvl="0">
              <a:lnSpc>
                <a:spcPct val="170000"/>
              </a:lnSpc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cs typeface="Roboto Mono"/>
                <a:sym typeface="Roboto Mono"/>
              </a:rPr>
              <a:t>Recall: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cs typeface="Roboto Mono"/>
                <a:sym typeface="Roboto Mono"/>
              </a:rPr>
              <a:t>66.89%</a:t>
            </a:r>
          </a:p>
          <a:p>
            <a:pPr lvl="0">
              <a:lnSpc>
                <a:spcPct val="170000"/>
              </a:lnSpc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cs typeface="Roboto Mono"/>
                <a:sym typeface="Roboto Mono"/>
              </a:rPr>
              <a:t>F1-score: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cs typeface="Roboto Mono"/>
                <a:sym typeface="Roboto Mono"/>
              </a:rPr>
              <a:t>80.16%</a:t>
            </a:r>
            <a:endParaRPr sz="1050" dirty="0">
              <a:solidFill>
                <a:schemeClr val="bg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E9BE965-F2F2-4C83-9773-B42672CA4F16}"/>
              </a:ext>
            </a:extLst>
          </p:cNvPr>
          <p:cNvCxnSpPr>
            <a:cxnSpLocks/>
          </p:cNvCxnSpPr>
          <p:nvPr/>
        </p:nvCxnSpPr>
        <p:spPr>
          <a:xfrm>
            <a:off x="6252210" y="918041"/>
            <a:ext cx="0" cy="51442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22061377-50B8-414D-AF2F-E0122959AAF0}"/>
              </a:ext>
            </a:extLst>
          </p:cNvPr>
          <p:cNvSpPr/>
          <p:nvPr/>
        </p:nvSpPr>
        <p:spPr>
          <a:xfrm>
            <a:off x="7856375" y="736291"/>
            <a:ext cx="3281668" cy="4353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5000"/>
              </a:lnSpc>
              <a:buClr>
                <a:srgbClr val="0D5672"/>
              </a:buClr>
              <a:buSzPts val="4800"/>
            </a:pPr>
            <a:r>
              <a:rPr lang="en-US" sz="2600" b="1" dirty="0">
                <a:solidFill>
                  <a:srgbClr val="0D5672"/>
                </a:solidFill>
                <a:latin typeface="Calibri"/>
                <a:cs typeface="Calibri"/>
                <a:sym typeface="Calibri"/>
              </a:rPr>
              <a:t>INCEPTION-V3 MODEL</a:t>
            </a:r>
          </a:p>
        </p:txBody>
      </p:sp>
      <p:sp>
        <p:nvSpPr>
          <p:cNvPr id="17" name="Google Shape;209;p28">
            <a:extLst>
              <a:ext uri="{FF2B5EF4-FFF2-40B4-BE49-F238E27FC236}">
                <a16:creationId xmlns:a16="http://schemas.microsoft.com/office/drawing/2014/main" id="{7293DF54-5229-4777-B79F-87E92D9A549D}"/>
              </a:ext>
            </a:extLst>
          </p:cNvPr>
          <p:cNvSpPr txBox="1"/>
          <p:nvPr/>
        </p:nvSpPr>
        <p:spPr>
          <a:xfrm>
            <a:off x="9372828" y="4180187"/>
            <a:ext cx="2600588" cy="161904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70000"/>
              </a:lnSpc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TEST METRICS</a:t>
            </a:r>
          </a:p>
          <a:p>
            <a:pPr>
              <a:lnSpc>
                <a:spcPct val="170000"/>
              </a:lnSpc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Accuracy: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90.06%</a:t>
            </a:r>
          </a:p>
          <a:p>
            <a:pPr>
              <a:lnSpc>
                <a:spcPct val="170000"/>
              </a:lnSpc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Precision: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87.27%</a:t>
            </a:r>
          </a:p>
          <a:p>
            <a:pPr>
              <a:lnSpc>
                <a:spcPct val="170000"/>
              </a:lnSpc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Recall: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98.46%</a:t>
            </a:r>
          </a:p>
          <a:p>
            <a:pPr>
              <a:lnSpc>
                <a:spcPct val="170000"/>
              </a:lnSpc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F1-score: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92.53%</a:t>
            </a:r>
            <a:endParaRPr sz="1050" dirty="0">
              <a:solidFill>
                <a:schemeClr val="bg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" name="Google Shape;205;p28">
            <a:extLst>
              <a:ext uri="{FF2B5EF4-FFF2-40B4-BE49-F238E27FC236}">
                <a16:creationId xmlns:a16="http://schemas.microsoft.com/office/drawing/2014/main" id="{A65A3006-2EDA-4D71-970E-B5C8B93E2B5D}"/>
              </a:ext>
            </a:extLst>
          </p:cNvPr>
          <p:cNvSpPr txBox="1">
            <a:spLocks/>
          </p:cNvSpPr>
          <p:nvPr/>
        </p:nvSpPr>
        <p:spPr>
          <a:xfrm>
            <a:off x="1953858" y="-15618"/>
            <a:ext cx="8092437" cy="59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0D5672"/>
              </a:buClr>
            </a:pPr>
            <a:r>
              <a:rPr lang="en-US" sz="3000" b="1" u="sng" dirty="0">
                <a:solidFill>
                  <a:schemeClr val="accent2"/>
                </a:solidFill>
              </a:rPr>
              <a:t>BACTERIAL VS. VIRAL CLASSIFICATION RESULTS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DFEAE5-A1E9-4B80-B4CB-9AB289DF8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38" y="1223574"/>
            <a:ext cx="2903204" cy="208181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BFDEF7E-5605-4DA3-B8D8-12D25A4108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237" y="3552617"/>
            <a:ext cx="2478009" cy="25096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ACE96D-934A-4DE8-B40D-A39AC8A177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3879" y="1239849"/>
            <a:ext cx="1988294" cy="15025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CF1CD1-5503-48EA-847D-AEDCF5565B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5793" y="2742403"/>
            <a:ext cx="1873066" cy="13534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37A61B-226C-4755-B7F5-1E608ADFFB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4285" y="1283919"/>
            <a:ext cx="2757074" cy="19564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28CFDC4-6628-4E10-8C0A-7E3B49827A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5066" y="3475679"/>
            <a:ext cx="2600586" cy="259240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C2ECC81-B0DF-492C-AC24-8EED30A0E41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70031" y="2677813"/>
            <a:ext cx="1964537" cy="14501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32C2944-26E6-4259-AE3C-DC01060F4AB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41159" y="1280944"/>
            <a:ext cx="1888607" cy="137076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FF44C9B-8121-4619-9F2C-A979A28E7EC4}"/>
              </a:ext>
            </a:extLst>
          </p:cNvPr>
          <p:cNvSpPr txBox="1"/>
          <p:nvPr/>
        </p:nvSpPr>
        <p:spPr>
          <a:xfrm>
            <a:off x="3117015" y="5839245"/>
            <a:ext cx="32512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7030A0"/>
                </a:solidFill>
              </a:rPr>
              <a:t>BENCHMARK PRECISION,F1: 48.11%, 62.36%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10A546-D8E3-421E-B303-02EC83384A48}"/>
              </a:ext>
            </a:extLst>
          </p:cNvPr>
          <p:cNvSpPr txBox="1"/>
          <p:nvPr/>
        </p:nvSpPr>
        <p:spPr>
          <a:xfrm>
            <a:off x="3274546" y="6062294"/>
            <a:ext cx="29626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00B050"/>
                </a:solidFill>
              </a:rPr>
              <a:t>ACHIEVED  BETTER THAN BENCHMARK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CE8081-B24C-48BA-9564-71FA51F66A7B}"/>
              </a:ext>
            </a:extLst>
          </p:cNvPr>
          <p:cNvSpPr txBox="1"/>
          <p:nvPr/>
        </p:nvSpPr>
        <p:spPr>
          <a:xfrm>
            <a:off x="9201635" y="6076683"/>
            <a:ext cx="29626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00B050"/>
                </a:solidFill>
              </a:rPr>
              <a:t>ACHIEVED  BETTER THAN BENCHMARK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E12AA2-7536-4818-BEF1-526C3FCC47B6}"/>
              </a:ext>
            </a:extLst>
          </p:cNvPr>
          <p:cNvSpPr txBox="1"/>
          <p:nvPr/>
        </p:nvSpPr>
        <p:spPr>
          <a:xfrm>
            <a:off x="8977226" y="5859728"/>
            <a:ext cx="32512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7030A0"/>
                </a:solidFill>
              </a:rPr>
              <a:t>BENCHMARK PRECISION,F1: 48.11%, 62.36%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89F5FD-446B-CF27-21AF-E95E7176BA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061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>
            <a:spLocks noGrp="1"/>
          </p:cNvSpPr>
          <p:nvPr>
            <p:ph type="title" idx="4294967295"/>
          </p:nvPr>
        </p:nvSpPr>
        <p:spPr>
          <a:xfrm>
            <a:off x="1265308" y="715722"/>
            <a:ext cx="4338580" cy="492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 algn="ctr">
              <a:buClr>
                <a:srgbClr val="0D5672"/>
              </a:buClr>
            </a:pPr>
            <a:br>
              <a:rPr lang="en-US" sz="2600" dirty="0"/>
            </a:br>
            <a:r>
              <a:rPr lang="en-US" sz="2600" b="1" dirty="0">
                <a:solidFill>
                  <a:srgbClr val="0D5672"/>
                </a:solidFill>
              </a:rPr>
              <a:t>DENSENET MODEL</a:t>
            </a:r>
            <a:endParaRPr lang="en-US" sz="26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E9BE965-F2F2-4C83-9773-B42672CA4F16}"/>
              </a:ext>
            </a:extLst>
          </p:cNvPr>
          <p:cNvCxnSpPr>
            <a:cxnSpLocks/>
          </p:cNvCxnSpPr>
          <p:nvPr/>
        </p:nvCxnSpPr>
        <p:spPr>
          <a:xfrm>
            <a:off x="6252210" y="918041"/>
            <a:ext cx="0" cy="51442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22061377-50B8-414D-AF2F-E0122959AAF0}"/>
              </a:ext>
            </a:extLst>
          </p:cNvPr>
          <p:cNvSpPr/>
          <p:nvPr/>
        </p:nvSpPr>
        <p:spPr>
          <a:xfrm>
            <a:off x="7760997" y="736291"/>
            <a:ext cx="268054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b="1" dirty="0">
                <a:solidFill>
                  <a:srgbClr val="0D5672"/>
                </a:solidFill>
                <a:latin typeface="Calibri"/>
                <a:cs typeface="Calibri"/>
                <a:sym typeface="Calibri"/>
              </a:rPr>
              <a:t>RESNET50 MODEL</a:t>
            </a:r>
          </a:p>
        </p:txBody>
      </p:sp>
      <p:sp>
        <p:nvSpPr>
          <p:cNvPr id="17" name="Google Shape;209;p28">
            <a:extLst>
              <a:ext uri="{FF2B5EF4-FFF2-40B4-BE49-F238E27FC236}">
                <a16:creationId xmlns:a16="http://schemas.microsoft.com/office/drawing/2014/main" id="{7293DF54-5229-4777-B79F-87E92D9A549D}"/>
              </a:ext>
            </a:extLst>
          </p:cNvPr>
          <p:cNvSpPr txBox="1"/>
          <p:nvPr/>
        </p:nvSpPr>
        <p:spPr>
          <a:xfrm>
            <a:off x="9372828" y="4180187"/>
            <a:ext cx="2600588" cy="161904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70000"/>
              </a:lnSpc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Test metrics:</a:t>
            </a:r>
          </a:p>
          <a:p>
            <a:pPr>
              <a:lnSpc>
                <a:spcPct val="170000"/>
              </a:lnSpc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Accuracy: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89.74%</a:t>
            </a:r>
          </a:p>
          <a:p>
            <a:pPr>
              <a:lnSpc>
                <a:spcPct val="170000"/>
              </a:lnSpc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Precision: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86.98%</a:t>
            </a:r>
          </a:p>
          <a:p>
            <a:pPr>
              <a:lnSpc>
                <a:spcPct val="170000"/>
              </a:lnSpc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Recall: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85.81%</a:t>
            </a:r>
          </a:p>
          <a:p>
            <a:pPr>
              <a:lnSpc>
                <a:spcPct val="170000"/>
              </a:lnSpc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F1-score: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86.39%</a:t>
            </a:r>
            <a:endParaRPr sz="1050" dirty="0">
              <a:solidFill>
                <a:schemeClr val="bg2"/>
              </a:solidFill>
              <a:latin typeface="Roboto Mono"/>
              <a:ea typeface="Roboto Mono"/>
              <a:sym typeface="Roboto Mono"/>
            </a:endParaRPr>
          </a:p>
        </p:txBody>
      </p:sp>
      <p:sp>
        <p:nvSpPr>
          <p:cNvPr id="18" name="Google Shape;205;p28">
            <a:extLst>
              <a:ext uri="{FF2B5EF4-FFF2-40B4-BE49-F238E27FC236}">
                <a16:creationId xmlns:a16="http://schemas.microsoft.com/office/drawing/2014/main" id="{A65A3006-2EDA-4D71-970E-B5C8B93E2B5D}"/>
              </a:ext>
            </a:extLst>
          </p:cNvPr>
          <p:cNvSpPr txBox="1">
            <a:spLocks/>
          </p:cNvSpPr>
          <p:nvPr/>
        </p:nvSpPr>
        <p:spPr>
          <a:xfrm>
            <a:off x="1177291" y="8123"/>
            <a:ext cx="9715495" cy="59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0D5672"/>
              </a:buClr>
            </a:pPr>
            <a:r>
              <a:rPr lang="en-US" sz="3000" b="1" u="sng" dirty="0">
                <a:solidFill>
                  <a:schemeClr val="accent2"/>
                </a:solidFill>
              </a:rPr>
              <a:t>BACTERIAL VS. VIRAL CLASSIFICATION RESULTS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8CC882-9E58-4625-B9CE-DFF238C1E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721" y="1289514"/>
            <a:ext cx="2871299" cy="20915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FECF59-F055-4A1E-945A-8B605B5B58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3717" y="3476957"/>
            <a:ext cx="2600588" cy="26171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E15960-9752-4BC4-898C-C1E05A3F7C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0530" y="1364427"/>
            <a:ext cx="1844539" cy="13542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D55E4D-838A-4D1E-B2B3-3857F590C1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0530" y="2711069"/>
            <a:ext cx="1918774" cy="14358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54EE17-B7A9-4DA9-854E-C161566553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437" y="1322596"/>
            <a:ext cx="2818711" cy="20584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765F87-8224-4C06-9FC6-31B4751266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901" y="3577611"/>
            <a:ext cx="2477325" cy="25646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EDADF91-96E0-4FE2-B7A5-0E7C43B17DB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09842" y="1289514"/>
            <a:ext cx="1915821" cy="14028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7577576-1D95-40CA-81B5-B5D214EB9B8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09844" y="2809712"/>
            <a:ext cx="1829224" cy="1319152"/>
          </a:xfrm>
          <a:prstGeom prst="rect">
            <a:avLst/>
          </a:prstGeom>
        </p:spPr>
      </p:pic>
      <p:sp>
        <p:nvSpPr>
          <p:cNvPr id="25" name="Google Shape;209;p28">
            <a:extLst>
              <a:ext uri="{FF2B5EF4-FFF2-40B4-BE49-F238E27FC236}">
                <a16:creationId xmlns:a16="http://schemas.microsoft.com/office/drawing/2014/main" id="{6803D4D7-45FF-4134-87E6-A8FF86C7160C}"/>
              </a:ext>
            </a:extLst>
          </p:cNvPr>
          <p:cNvSpPr txBox="1"/>
          <p:nvPr/>
        </p:nvSpPr>
        <p:spPr>
          <a:xfrm>
            <a:off x="3395051" y="4246187"/>
            <a:ext cx="2600588" cy="161904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70000"/>
              </a:lnSpc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Test metrics:</a:t>
            </a:r>
          </a:p>
          <a:p>
            <a:pPr lvl="0">
              <a:lnSpc>
                <a:spcPct val="170000"/>
              </a:lnSpc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Accuracy: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81.28%</a:t>
            </a:r>
          </a:p>
          <a:p>
            <a:pPr lvl="0">
              <a:lnSpc>
                <a:spcPct val="170000"/>
              </a:lnSpc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Precision: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89.47%</a:t>
            </a:r>
          </a:p>
          <a:p>
            <a:pPr lvl="0">
              <a:lnSpc>
                <a:spcPct val="170000"/>
              </a:lnSpc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Recall: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57.43%</a:t>
            </a:r>
          </a:p>
          <a:p>
            <a:pPr lvl="0">
              <a:lnSpc>
                <a:spcPct val="170000"/>
              </a:lnSpc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F1-score: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69.96%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E5452B-AD97-4D72-9107-4782249E5EE1}"/>
              </a:ext>
            </a:extLst>
          </p:cNvPr>
          <p:cNvSpPr txBox="1"/>
          <p:nvPr/>
        </p:nvSpPr>
        <p:spPr>
          <a:xfrm>
            <a:off x="3214009" y="6098503"/>
            <a:ext cx="29626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00B050"/>
                </a:solidFill>
              </a:rPr>
              <a:t>ACHIEVED  BETTER THAN BENCHMARK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7F38C5-451F-4D68-A4B8-6AB99C4475B3}"/>
              </a:ext>
            </a:extLst>
          </p:cNvPr>
          <p:cNvSpPr txBox="1"/>
          <p:nvPr/>
        </p:nvSpPr>
        <p:spPr>
          <a:xfrm>
            <a:off x="9191786" y="6107458"/>
            <a:ext cx="29626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00B050"/>
                </a:solidFill>
              </a:rPr>
              <a:t>ACHIEVED  BETTER THAN BENCHMARK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7E446F-12AB-48A1-8D0D-0C39FD92D740}"/>
              </a:ext>
            </a:extLst>
          </p:cNvPr>
          <p:cNvSpPr txBox="1"/>
          <p:nvPr/>
        </p:nvSpPr>
        <p:spPr>
          <a:xfrm>
            <a:off x="3068086" y="5875902"/>
            <a:ext cx="32512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7030A0"/>
                </a:solidFill>
              </a:rPr>
              <a:t>BENCHMARK PRECISION,F1: 48.11%, 62.36%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72D810-78E1-42D1-95AA-263D5DD4324B}"/>
              </a:ext>
            </a:extLst>
          </p:cNvPr>
          <p:cNvSpPr txBox="1"/>
          <p:nvPr/>
        </p:nvSpPr>
        <p:spPr>
          <a:xfrm>
            <a:off x="8924571" y="5875902"/>
            <a:ext cx="32512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7030A0"/>
                </a:solidFill>
              </a:rPr>
              <a:t>BENCHMARK PRECISION,F1: 48.11%, 62.36%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EA5DF-D453-64A7-6098-677638DD5A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713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6"/>
          <p:cNvSpPr txBox="1">
            <a:spLocks noGrp="1"/>
          </p:cNvSpPr>
          <p:nvPr>
            <p:ph type="title" idx="4294967295"/>
          </p:nvPr>
        </p:nvSpPr>
        <p:spPr>
          <a:xfrm>
            <a:off x="3880798" y="207634"/>
            <a:ext cx="4278630" cy="57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D5672"/>
              </a:buClr>
              <a:buSzPts val="4800"/>
              <a:buFont typeface="Calibri"/>
              <a:buNone/>
            </a:pPr>
            <a:r>
              <a:rPr lang="en-US" sz="3800" b="1" dirty="0">
                <a:solidFill>
                  <a:srgbClr val="0D5672"/>
                </a:solidFill>
              </a:rPr>
              <a:t>CNN RESULTS</a:t>
            </a:r>
            <a:endParaRPr sz="3800" dirty="0"/>
          </a:p>
        </p:txBody>
      </p:sp>
      <p:pic>
        <p:nvPicPr>
          <p:cNvPr id="5124" name="Picture 4" descr="https://lh6.googleusercontent.com/PAk9rZmY2PIKGpEf-vqBUY-xb49f09Z-q7mhC6D50cUZi-D01n9k-NZGHPMpKMts4vxdAEOB4DMqUioMOBA3tK78gYi-Y01ppRE_0aWqURZoG9NQ9AwrGIT9rlrUv2qjWJvm1ruj">
            <a:extLst>
              <a:ext uri="{FF2B5EF4-FFF2-40B4-BE49-F238E27FC236}">
                <a16:creationId xmlns:a16="http://schemas.microsoft.com/office/drawing/2014/main" id="{2520B8C1-EF11-4609-B066-2C206C983B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26"/>
          <a:stretch/>
        </p:blipFill>
        <p:spPr bwMode="auto">
          <a:xfrm>
            <a:off x="4270526" y="4196316"/>
            <a:ext cx="2842572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https://lh5.googleusercontent.com/VYlzOwEP3OYCcEEJ_uiuG85BV7Y5hNAN71G5ZpUG8wRM2pMG90k7pbt4w2eEEYpAyXc4yHLBlydFIYfIEiavxlunzm1CeXT26RmD4HIYmjdLA6ID4-3C0Oof0LMLrZyHWuH_tRv9">
            <a:extLst>
              <a:ext uri="{FF2B5EF4-FFF2-40B4-BE49-F238E27FC236}">
                <a16:creationId xmlns:a16="http://schemas.microsoft.com/office/drawing/2014/main" id="{202C69DA-2213-40AD-B319-275D0F283C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656"/>
          <a:stretch/>
        </p:blipFill>
        <p:spPr bwMode="auto">
          <a:xfrm>
            <a:off x="885826" y="1276246"/>
            <a:ext cx="2881952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E4D3461-7375-40ED-9720-A2EB95DAC3AC}"/>
              </a:ext>
            </a:extLst>
          </p:cNvPr>
          <p:cNvSpPr/>
          <p:nvPr/>
        </p:nvSpPr>
        <p:spPr>
          <a:xfrm>
            <a:off x="1227788" y="968469"/>
            <a:ext cx="45929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Clr>
                <a:srgbClr val="0D5672"/>
              </a:buClr>
            </a:pPr>
            <a:r>
              <a:rPr lang="en-US" b="1" u="sng" dirty="0">
                <a:solidFill>
                  <a:schemeClr val="accent2"/>
                </a:solidFill>
              </a:rPr>
              <a:t>BACTERIAL VS. VIRAL CLASSIFICATION RESULTS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73E709-8E05-4368-B3D3-EA4A6B9E82AF}"/>
              </a:ext>
            </a:extLst>
          </p:cNvPr>
          <p:cNvSpPr/>
          <p:nvPr/>
        </p:nvSpPr>
        <p:spPr>
          <a:xfrm>
            <a:off x="1227788" y="3797198"/>
            <a:ext cx="32976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Clr>
                <a:srgbClr val="0D5672"/>
              </a:buClr>
            </a:pPr>
            <a:r>
              <a:rPr lang="en-US" b="1" u="sng" dirty="0">
                <a:solidFill>
                  <a:schemeClr val="accent2"/>
                </a:solidFill>
              </a:rPr>
              <a:t>NORMAL VS PNEUMONIA RESULTS</a:t>
            </a:r>
            <a:endParaRPr lang="en-US" u="sng" dirty="0">
              <a:solidFill>
                <a:schemeClr val="accent2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FE66C16-1377-4E5E-B04F-49FC7436EFCF}"/>
              </a:ext>
            </a:extLst>
          </p:cNvPr>
          <p:cNvCxnSpPr>
            <a:cxnSpLocks/>
          </p:cNvCxnSpPr>
          <p:nvPr/>
        </p:nvCxnSpPr>
        <p:spPr>
          <a:xfrm>
            <a:off x="1017270" y="3497790"/>
            <a:ext cx="10709910" cy="747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Google Shape;209;p28">
            <a:extLst>
              <a:ext uri="{FF2B5EF4-FFF2-40B4-BE49-F238E27FC236}">
                <a16:creationId xmlns:a16="http://schemas.microsoft.com/office/drawing/2014/main" id="{80B2E4B4-C11E-4A94-946D-190240A78E32}"/>
              </a:ext>
            </a:extLst>
          </p:cNvPr>
          <p:cNvSpPr txBox="1"/>
          <p:nvPr/>
        </p:nvSpPr>
        <p:spPr>
          <a:xfrm>
            <a:off x="8058491" y="1529303"/>
            <a:ext cx="2200569" cy="161904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70000"/>
              </a:lnSpc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Test metrics:</a:t>
            </a:r>
          </a:p>
          <a:p>
            <a:pPr lvl="0">
              <a:lnSpc>
                <a:spcPct val="170000"/>
              </a:lnSpc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Accuracy: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88.21%</a:t>
            </a:r>
          </a:p>
          <a:p>
            <a:pPr lvl="0">
              <a:lnSpc>
                <a:spcPct val="170000"/>
              </a:lnSpc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Precision: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94.74%</a:t>
            </a:r>
          </a:p>
          <a:p>
            <a:pPr lvl="0">
              <a:lnSpc>
                <a:spcPct val="170000"/>
              </a:lnSpc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Recall: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72.97%</a:t>
            </a:r>
          </a:p>
          <a:p>
            <a:pPr lvl="0">
              <a:lnSpc>
                <a:spcPct val="170000"/>
              </a:lnSpc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F1-score: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82.4%</a:t>
            </a:r>
          </a:p>
        </p:txBody>
      </p:sp>
      <p:sp>
        <p:nvSpPr>
          <p:cNvPr id="13" name="Google Shape;209;p28">
            <a:extLst>
              <a:ext uri="{FF2B5EF4-FFF2-40B4-BE49-F238E27FC236}">
                <a16:creationId xmlns:a16="http://schemas.microsoft.com/office/drawing/2014/main" id="{BC50016D-96DC-45FC-BC98-6726B5DD803B}"/>
              </a:ext>
            </a:extLst>
          </p:cNvPr>
          <p:cNvSpPr txBox="1"/>
          <p:nvPr/>
        </p:nvSpPr>
        <p:spPr>
          <a:xfrm>
            <a:off x="7977815" y="4331774"/>
            <a:ext cx="2200569" cy="161904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70000"/>
              </a:lnSpc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Test metrics:</a:t>
            </a:r>
          </a:p>
          <a:p>
            <a:pPr lvl="0">
              <a:lnSpc>
                <a:spcPct val="170000"/>
              </a:lnSpc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Accuracy: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91.03%</a:t>
            </a:r>
          </a:p>
          <a:p>
            <a:pPr lvl="0">
              <a:lnSpc>
                <a:spcPct val="170000"/>
              </a:lnSpc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Precision: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89.76%</a:t>
            </a:r>
          </a:p>
          <a:p>
            <a:pPr lvl="0">
              <a:lnSpc>
                <a:spcPct val="170000"/>
              </a:lnSpc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Recall: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96.66%</a:t>
            </a:r>
          </a:p>
          <a:p>
            <a:pPr lvl="0">
              <a:lnSpc>
                <a:spcPct val="170000"/>
              </a:lnSpc>
            </a:pPr>
            <a:r>
              <a:rPr lang="en-US" sz="1050" b="1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F1-score: </a:t>
            </a:r>
            <a:r>
              <a:rPr lang="en-US" sz="1050" dirty="0">
                <a:solidFill>
                  <a:schemeClr val="bg2"/>
                </a:solidFill>
                <a:latin typeface="Roboto Mono"/>
                <a:ea typeface="Roboto Mono"/>
                <a:sym typeface="Roboto Mono"/>
              </a:rPr>
              <a:t>93.08%</a:t>
            </a:r>
          </a:p>
        </p:txBody>
      </p:sp>
      <p:pic>
        <p:nvPicPr>
          <p:cNvPr id="15" name="Picture 6" descr="https://lh5.googleusercontent.com/VYlzOwEP3OYCcEEJ_uiuG85BV7Y5hNAN71G5ZpUG8wRM2pMG90k7pbt4w2eEEYpAyXc4yHLBlydFIYfIEiavxlunzm1CeXT26RmD4HIYmjdLA6ID4-3C0Oof0LMLrZyHWuH_tRv9">
            <a:extLst>
              <a:ext uri="{FF2B5EF4-FFF2-40B4-BE49-F238E27FC236}">
                <a16:creationId xmlns:a16="http://schemas.microsoft.com/office/drawing/2014/main" id="{972DCA4B-22A5-4DA7-836F-0F934FA5F1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56"/>
          <a:stretch/>
        </p:blipFill>
        <p:spPr bwMode="auto">
          <a:xfrm>
            <a:off x="4231146" y="1339524"/>
            <a:ext cx="2881952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https://lh6.googleusercontent.com/PAk9rZmY2PIKGpEf-vqBUY-xb49f09Z-q7mhC6D50cUZi-D01n9k-NZGHPMpKMts4vxdAEOB4DMqUioMOBA3tK78gYi-Y01ppRE_0aWqURZoG9NQ9AwrGIT9rlrUv2qjWJvm1ruj">
            <a:extLst>
              <a:ext uri="{FF2B5EF4-FFF2-40B4-BE49-F238E27FC236}">
                <a16:creationId xmlns:a16="http://schemas.microsoft.com/office/drawing/2014/main" id="{A72F0F08-9072-46DD-9166-2C0128EF4F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571"/>
          <a:stretch/>
        </p:blipFill>
        <p:spPr bwMode="auto">
          <a:xfrm>
            <a:off x="1017270" y="4196316"/>
            <a:ext cx="294894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AA1DB-6682-FEAC-434E-8361CE4463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E11DBA9-AB75-434C-9DD8-3B02BC56D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200848"/>
              </p:ext>
            </p:extLst>
          </p:nvPr>
        </p:nvGraphicFramePr>
        <p:xfrm>
          <a:off x="1017032" y="4096707"/>
          <a:ext cx="10158252" cy="210756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693042">
                  <a:extLst>
                    <a:ext uri="{9D8B030D-6E8A-4147-A177-3AD203B41FA5}">
                      <a16:colId xmlns:a16="http://schemas.microsoft.com/office/drawing/2014/main" val="746342543"/>
                    </a:ext>
                  </a:extLst>
                </a:gridCol>
                <a:gridCol w="1693042">
                  <a:extLst>
                    <a:ext uri="{9D8B030D-6E8A-4147-A177-3AD203B41FA5}">
                      <a16:colId xmlns:a16="http://schemas.microsoft.com/office/drawing/2014/main" val="2258437280"/>
                    </a:ext>
                  </a:extLst>
                </a:gridCol>
                <a:gridCol w="1693042">
                  <a:extLst>
                    <a:ext uri="{9D8B030D-6E8A-4147-A177-3AD203B41FA5}">
                      <a16:colId xmlns:a16="http://schemas.microsoft.com/office/drawing/2014/main" val="1490466226"/>
                    </a:ext>
                  </a:extLst>
                </a:gridCol>
                <a:gridCol w="1693042">
                  <a:extLst>
                    <a:ext uri="{9D8B030D-6E8A-4147-A177-3AD203B41FA5}">
                      <a16:colId xmlns:a16="http://schemas.microsoft.com/office/drawing/2014/main" val="929426465"/>
                    </a:ext>
                  </a:extLst>
                </a:gridCol>
                <a:gridCol w="1693042">
                  <a:extLst>
                    <a:ext uri="{9D8B030D-6E8A-4147-A177-3AD203B41FA5}">
                      <a16:colId xmlns:a16="http://schemas.microsoft.com/office/drawing/2014/main" val="1126545292"/>
                    </a:ext>
                  </a:extLst>
                </a:gridCol>
                <a:gridCol w="1693042">
                  <a:extLst>
                    <a:ext uri="{9D8B030D-6E8A-4147-A177-3AD203B41FA5}">
                      <a16:colId xmlns:a16="http://schemas.microsoft.com/office/drawing/2014/main" val="1887312335"/>
                    </a:ext>
                  </a:extLst>
                </a:gridCol>
              </a:tblGrid>
              <a:tr h="351261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u="none" strike="noStrike" dirty="0">
                          <a:effectLst/>
                        </a:rPr>
                        <a:t>Models</a:t>
                      </a:r>
                      <a:endParaRPr lang="en-US" sz="1400" b="1" dirty="0">
                        <a:effectLst/>
                      </a:endParaRPr>
                    </a:p>
                  </a:txBody>
                  <a:tcPr marL="63500" marR="63500" marT="63500" marB="6350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u="none" strike="noStrike" dirty="0">
                          <a:effectLst/>
                        </a:rPr>
                        <a:t>Precision</a:t>
                      </a:r>
                      <a:endParaRPr lang="en-US" sz="1400" b="1" dirty="0">
                        <a:effectLst/>
                      </a:endParaRPr>
                    </a:p>
                  </a:txBody>
                  <a:tcPr marL="63500" marR="63500" marT="63500" marB="6350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u="none" strike="noStrike" dirty="0">
                          <a:effectLst/>
                        </a:rPr>
                        <a:t>Recall</a:t>
                      </a:r>
                      <a:endParaRPr lang="en-US" sz="1400" b="1" dirty="0">
                        <a:effectLst/>
                      </a:endParaRPr>
                    </a:p>
                  </a:txBody>
                  <a:tcPr marL="63500" marR="63500" marT="63500" marB="6350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u="none" strike="noStrike" dirty="0">
                          <a:effectLst/>
                        </a:rPr>
                        <a:t>Accuracy</a:t>
                      </a:r>
                      <a:endParaRPr lang="en-US" sz="1400" b="1" dirty="0">
                        <a:effectLst/>
                      </a:endParaRPr>
                    </a:p>
                  </a:txBody>
                  <a:tcPr marL="63500" marR="63500" marT="63500" marB="6350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u="none" strike="noStrike" dirty="0">
                          <a:effectLst/>
                        </a:rPr>
                        <a:t>F1 Score</a:t>
                      </a:r>
                      <a:endParaRPr lang="en-US" sz="1400" b="1" dirty="0">
                        <a:effectLst/>
                      </a:endParaRPr>
                    </a:p>
                  </a:txBody>
                  <a:tcPr marL="63500" marR="63500" marT="63500" marB="6350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u="none" strike="noStrike" dirty="0">
                          <a:effectLst/>
                        </a:rPr>
                        <a:t>AUC</a:t>
                      </a:r>
                      <a:endParaRPr lang="en-US" sz="1400" b="1" dirty="0">
                        <a:effectLst/>
                      </a:endParaRPr>
                    </a:p>
                  </a:txBody>
                  <a:tcPr marL="63500" marR="63500" marT="63500" marB="6350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356470"/>
                  </a:ext>
                </a:extLst>
              </a:tr>
              <a:tr h="351261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u="none" strike="noStrike" dirty="0">
                          <a:effectLst/>
                        </a:rPr>
                        <a:t>VGG16</a:t>
                      </a:r>
                      <a:endParaRPr lang="en-US" sz="1400" b="0" dirty="0">
                        <a:effectLst/>
                      </a:endParaRPr>
                    </a:p>
                  </a:txBody>
                  <a:tcPr marL="63500" marR="63500" marT="63500" marB="6350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u="none" strike="noStrike" dirty="0">
                          <a:effectLst/>
                        </a:rPr>
                        <a:t>100</a:t>
                      </a:r>
                      <a:endParaRPr lang="en-US" sz="1400" b="1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effectLst/>
                        </a:rPr>
                        <a:t>66.89</a:t>
                      </a:r>
                      <a:endParaRPr lang="en-US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effectLst/>
                        </a:rPr>
                        <a:t>87.43</a:t>
                      </a:r>
                      <a:endParaRPr lang="en-US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effectLst/>
                        </a:rPr>
                        <a:t>80.16</a:t>
                      </a:r>
                      <a:endParaRPr lang="en-US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effectLst/>
                        </a:rPr>
                        <a:t>83</a:t>
                      </a:r>
                      <a:endParaRPr lang="en-US" sz="14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4120292151"/>
                  </a:ext>
                </a:extLst>
              </a:tr>
              <a:tr h="351261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u="none" strike="noStrike" dirty="0">
                          <a:effectLst/>
                        </a:rPr>
                        <a:t>InceptionV3</a:t>
                      </a:r>
                      <a:endParaRPr lang="en-US" sz="1400" b="0" dirty="0">
                        <a:effectLst/>
                      </a:endParaRPr>
                    </a:p>
                  </a:txBody>
                  <a:tcPr marL="63500" marR="63500" marT="63500" marB="6350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effectLst/>
                        </a:rPr>
                        <a:t>87.27</a:t>
                      </a:r>
                      <a:endParaRPr lang="en-US" sz="14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u="none" strike="noStrike" dirty="0">
                          <a:effectLst/>
                        </a:rPr>
                        <a:t>98.46</a:t>
                      </a:r>
                      <a:endParaRPr lang="en-US" sz="1400" b="1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u="none" strike="noStrike" dirty="0">
                          <a:effectLst/>
                        </a:rPr>
                        <a:t>90.06</a:t>
                      </a:r>
                      <a:endParaRPr lang="en-US" sz="1400" b="1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u="none" strike="noStrike" dirty="0">
                          <a:effectLst/>
                        </a:rPr>
                        <a:t>92.53</a:t>
                      </a:r>
                      <a:endParaRPr lang="en-US" sz="1400" b="1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effectLst/>
                        </a:rPr>
                        <a:t>87</a:t>
                      </a:r>
                      <a:endParaRPr lang="en-US" sz="14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18859455"/>
                  </a:ext>
                </a:extLst>
              </a:tr>
              <a:tr h="351261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u="none" strike="noStrike" dirty="0" err="1">
                          <a:effectLst/>
                        </a:rPr>
                        <a:t>DenseNet</a:t>
                      </a:r>
                      <a:endParaRPr lang="en-US" sz="1400" b="0" dirty="0">
                        <a:effectLst/>
                      </a:endParaRPr>
                    </a:p>
                  </a:txBody>
                  <a:tcPr marL="63500" marR="63500" marT="63500" marB="6350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effectLst/>
                        </a:rPr>
                        <a:t>89.47</a:t>
                      </a:r>
                      <a:endParaRPr lang="en-US" sz="14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effectLst/>
                        </a:rPr>
                        <a:t>57.43</a:t>
                      </a:r>
                      <a:endParaRPr lang="en-US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effectLst/>
                        </a:rPr>
                        <a:t>81.282</a:t>
                      </a:r>
                      <a:endParaRPr lang="en-US" sz="14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effectLst/>
                        </a:rPr>
                        <a:t>69.958</a:t>
                      </a:r>
                      <a:endParaRPr lang="en-US" sz="14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effectLst/>
                        </a:rPr>
                        <a:t>77</a:t>
                      </a:r>
                      <a:endParaRPr lang="en-US" sz="14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981686130"/>
                  </a:ext>
                </a:extLst>
              </a:tr>
              <a:tr h="351261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u="none" strike="noStrike" dirty="0">
                          <a:effectLst/>
                        </a:rPr>
                        <a:t>ResNet50</a:t>
                      </a:r>
                      <a:endParaRPr lang="en-US" sz="1400" b="0" dirty="0">
                        <a:effectLst/>
                      </a:endParaRPr>
                    </a:p>
                  </a:txBody>
                  <a:tcPr marL="63500" marR="63500" marT="63500" marB="6350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effectLst/>
                        </a:rPr>
                        <a:t>86.98</a:t>
                      </a:r>
                      <a:endParaRPr lang="en-US" sz="14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effectLst/>
                        </a:rPr>
                        <a:t>85.81</a:t>
                      </a:r>
                      <a:endParaRPr lang="en-US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effectLst/>
                        </a:rPr>
                        <a:t>89.74</a:t>
                      </a:r>
                      <a:endParaRPr lang="en-US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effectLst/>
                        </a:rPr>
                        <a:t>86.39</a:t>
                      </a:r>
                      <a:endParaRPr lang="en-US" sz="14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u="none" strike="noStrike" dirty="0">
                          <a:effectLst/>
                        </a:rPr>
                        <a:t>89</a:t>
                      </a:r>
                      <a:endParaRPr lang="en-US" sz="1400" b="1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990406066"/>
                  </a:ext>
                </a:extLst>
              </a:tr>
              <a:tr h="351261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u="none" strike="noStrike" dirty="0">
                          <a:effectLst/>
                        </a:rPr>
                        <a:t>CNN</a:t>
                      </a:r>
                      <a:endParaRPr lang="en-US" sz="1400" b="0" dirty="0">
                        <a:effectLst/>
                      </a:endParaRPr>
                    </a:p>
                  </a:txBody>
                  <a:tcPr marL="63500" marR="63500" marT="63500" marB="6350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effectLst/>
                        </a:rPr>
                        <a:t>94.736</a:t>
                      </a:r>
                      <a:endParaRPr lang="en-US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effectLst/>
                        </a:rPr>
                        <a:t>72.97</a:t>
                      </a:r>
                      <a:endParaRPr lang="en-US" sz="14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effectLst/>
                        </a:rPr>
                        <a:t>88.205</a:t>
                      </a:r>
                      <a:endParaRPr lang="en-US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effectLst/>
                        </a:rPr>
                        <a:t>82.44</a:t>
                      </a:r>
                      <a:endParaRPr lang="en-US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effectLst/>
                        </a:rPr>
                        <a:t>85</a:t>
                      </a:r>
                      <a:endParaRPr lang="en-US" sz="14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250137807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8B7566BE-D85B-4906-8A2C-52E31D807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0725" y="29733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80DC70-5091-480F-9BFD-9E4F5B4103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194372"/>
              </p:ext>
            </p:extLst>
          </p:nvPr>
        </p:nvGraphicFramePr>
        <p:xfrm>
          <a:off x="1017032" y="1422062"/>
          <a:ext cx="10158251" cy="204216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654137">
                  <a:extLst>
                    <a:ext uri="{9D8B030D-6E8A-4147-A177-3AD203B41FA5}">
                      <a16:colId xmlns:a16="http://schemas.microsoft.com/office/drawing/2014/main" val="3186092364"/>
                    </a:ext>
                  </a:extLst>
                </a:gridCol>
                <a:gridCol w="1660357">
                  <a:extLst>
                    <a:ext uri="{9D8B030D-6E8A-4147-A177-3AD203B41FA5}">
                      <a16:colId xmlns:a16="http://schemas.microsoft.com/office/drawing/2014/main" val="2970224035"/>
                    </a:ext>
                  </a:extLst>
                </a:gridCol>
                <a:gridCol w="1756611">
                  <a:extLst>
                    <a:ext uri="{9D8B030D-6E8A-4147-A177-3AD203B41FA5}">
                      <a16:colId xmlns:a16="http://schemas.microsoft.com/office/drawing/2014/main" val="1269035732"/>
                    </a:ext>
                  </a:extLst>
                </a:gridCol>
                <a:gridCol w="1696453">
                  <a:extLst>
                    <a:ext uri="{9D8B030D-6E8A-4147-A177-3AD203B41FA5}">
                      <a16:colId xmlns:a16="http://schemas.microsoft.com/office/drawing/2014/main" val="841059303"/>
                    </a:ext>
                  </a:extLst>
                </a:gridCol>
                <a:gridCol w="1708484">
                  <a:extLst>
                    <a:ext uri="{9D8B030D-6E8A-4147-A177-3AD203B41FA5}">
                      <a16:colId xmlns:a16="http://schemas.microsoft.com/office/drawing/2014/main" val="3092366340"/>
                    </a:ext>
                  </a:extLst>
                </a:gridCol>
                <a:gridCol w="1682209">
                  <a:extLst>
                    <a:ext uri="{9D8B030D-6E8A-4147-A177-3AD203B41FA5}">
                      <a16:colId xmlns:a16="http://schemas.microsoft.com/office/drawing/2014/main" val="24867676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u="none" strike="noStrike" cap="none" dirty="0">
                          <a:effectLst/>
                          <a:sym typeface="Arial"/>
                        </a:rPr>
                        <a:t>Models</a:t>
                      </a:r>
                      <a:endParaRPr lang="en-US" sz="1400" b="1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3500" marR="63500" marT="63500" marB="6350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u="none" strike="noStrike" cap="none" dirty="0">
                          <a:effectLst/>
                          <a:sym typeface="Arial"/>
                        </a:rPr>
                        <a:t>Precision</a:t>
                      </a:r>
                      <a:endParaRPr lang="en-US" sz="1400" b="1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3500" marR="63500" marT="63500" marB="6350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u="none" strike="noStrike" cap="none" dirty="0">
                          <a:effectLst/>
                          <a:sym typeface="Arial"/>
                        </a:rPr>
                        <a:t>Recall</a:t>
                      </a:r>
                      <a:endParaRPr lang="en-US" sz="1400" b="1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3500" marR="63500" marT="63500" marB="6350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u="none" strike="noStrike" cap="none" dirty="0">
                          <a:effectLst/>
                          <a:sym typeface="Arial"/>
                        </a:rPr>
                        <a:t>Accuracy</a:t>
                      </a:r>
                      <a:endParaRPr lang="en-US" sz="1400" b="1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3500" marR="63500" marT="63500" marB="6350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u="none" strike="noStrike" cap="none" dirty="0">
                          <a:effectLst/>
                          <a:sym typeface="Arial"/>
                        </a:rPr>
                        <a:t>F1 Score</a:t>
                      </a:r>
                      <a:endParaRPr lang="en-US" sz="1400" b="1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3500" marR="63500" marT="63500" marB="6350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u="none" strike="noStrike" cap="none" dirty="0">
                          <a:effectLst/>
                          <a:sym typeface="Arial"/>
                        </a:rPr>
                        <a:t>AUC</a:t>
                      </a:r>
                      <a:endParaRPr lang="en-US" sz="1400" b="1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3500" marR="63500" marT="63500" marB="6350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86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effectLst/>
                        </a:rPr>
                        <a:t>VGG16</a:t>
                      </a:r>
                      <a:endParaRPr lang="en-US" sz="1400" dirty="0">
                        <a:effectLst/>
                      </a:endParaRPr>
                    </a:p>
                  </a:txBody>
                  <a:tcPr marL="63500" marR="63500" marT="63500" marB="6350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effectLst/>
                        </a:rPr>
                        <a:t>87.55</a:t>
                      </a:r>
                      <a:endParaRPr lang="en-US" sz="14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u="none" strike="noStrike" dirty="0">
                          <a:effectLst/>
                        </a:rPr>
                        <a:t>99.23</a:t>
                      </a:r>
                      <a:endParaRPr lang="en-US" sz="1400" b="1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effectLst/>
                        </a:rPr>
                        <a:t>90.71</a:t>
                      </a:r>
                      <a:endParaRPr lang="en-US" sz="14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effectLst/>
                        </a:rPr>
                        <a:t>93.02</a:t>
                      </a:r>
                      <a:endParaRPr lang="en-US" sz="14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effectLst/>
                        </a:rPr>
                        <a:t>88</a:t>
                      </a:r>
                      <a:endParaRPr lang="en-US" sz="14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65172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effectLst/>
                        </a:rPr>
                        <a:t>InceptionV3</a:t>
                      </a:r>
                      <a:endParaRPr lang="en-US" sz="1400" dirty="0">
                        <a:effectLst/>
                      </a:endParaRPr>
                    </a:p>
                  </a:txBody>
                  <a:tcPr marL="63500" marR="63500" marT="63500" marB="6350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effectLst/>
                        </a:rPr>
                        <a:t>87.27</a:t>
                      </a:r>
                      <a:endParaRPr lang="en-US" sz="14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effectLst/>
                        </a:rPr>
                        <a:t>98.46</a:t>
                      </a:r>
                      <a:endParaRPr lang="en-US" sz="14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effectLst/>
                        </a:rPr>
                        <a:t>90.06</a:t>
                      </a:r>
                      <a:endParaRPr lang="en-US" sz="14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effectLst/>
                        </a:rPr>
                        <a:t>92.53</a:t>
                      </a:r>
                      <a:endParaRPr lang="en-US" sz="14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effectLst/>
                        </a:rPr>
                        <a:t>87</a:t>
                      </a:r>
                      <a:endParaRPr lang="en-US" sz="14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124202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 err="1">
                          <a:effectLst/>
                        </a:rPr>
                        <a:t>DenseNet</a:t>
                      </a:r>
                      <a:endParaRPr lang="en-US" sz="1400" dirty="0">
                        <a:effectLst/>
                      </a:endParaRPr>
                    </a:p>
                  </a:txBody>
                  <a:tcPr marL="63500" marR="63500" marT="63500" marB="6350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effectLst/>
                        </a:rPr>
                        <a:t>90.77</a:t>
                      </a:r>
                      <a:endParaRPr lang="en-US" sz="14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effectLst/>
                        </a:rPr>
                        <a:t>95.89</a:t>
                      </a:r>
                      <a:endParaRPr lang="en-US" sz="14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effectLst/>
                        </a:rPr>
                        <a:t>91.34</a:t>
                      </a:r>
                      <a:endParaRPr lang="en-US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effectLst/>
                        </a:rPr>
                        <a:t>93.26</a:t>
                      </a:r>
                      <a:endParaRPr lang="en-US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effectLst/>
                        </a:rPr>
                        <a:t>90</a:t>
                      </a:r>
                      <a:endParaRPr lang="en-US" sz="14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283295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effectLst/>
                        </a:rPr>
                        <a:t>ResNet50</a:t>
                      </a:r>
                      <a:endParaRPr lang="en-US" sz="1400" dirty="0">
                        <a:effectLst/>
                      </a:endParaRPr>
                    </a:p>
                  </a:txBody>
                  <a:tcPr marL="63500" marR="63500" marT="63500" marB="6350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u="none" strike="noStrike" dirty="0">
                          <a:effectLst/>
                        </a:rPr>
                        <a:t>92.95</a:t>
                      </a:r>
                      <a:endParaRPr lang="en-US" sz="1400" b="1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effectLst/>
                        </a:rPr>
                        <a:t>95.64</a:t>
                      </a:r>
                      <a:endParaRPr lang="en-US" sz="14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u="none" strike="noStrike" dirty="0">
                          <a:effectLst/>
                        </a:rPr>
                        <a:t>92.95</a:t>
                      </a:r>
                      <a:endParaRPr lang="en-US" sz="1400" b="1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u="none" strike="noStrike" dirty="0">
                          <a:effectLst/>
                        </a:rPr>
                        <a:t>94.43</a:t>
                      </a:r>
                      <a:endParaRPr lang="en-US" sz="1400" b="1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u="none" strike="noStrike" dirty="0">
                          <a:effectLst/>
                        </a:rPr>
                        <a:t>92</a:t>
                      </a:r>
                      <a:endParaRPr lang="en-US" sz="1400" b="1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785495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effectLst/>
                        </a:rPr>
                        <a:t>CNN</a:t>
                      </a:r>
                      <a:endParaRPr lang="en-US" sz="1400" dirty="0">
                        <a:effectLst/>
                      </a:endParaRPr>
                    </a:p>
                  </a:txBody>
                  <a:tcPr marL="63500" marR="63500" marT="63500" marB="6350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effectLst/>
                        </a:rPr>
                        <a:t>89.76</a:t>
                      </a:r>
                      <a:endParaRPr lang="en-US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effectLst/>
                        </a:rPr>
                        <a:t>96.66</a:t>
                      </a:r>
                      <a:endParaRPr lang="en-US" sz="14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effectLst/>
                        </a:rPr>
                        <a:t>91.03</a:t>
                      </a:r>
                      <a:endParaRPr lang="en-US" sz="14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effectLst/>
                        </a:rPr>
                        <a:t>93.08</a:t>
                      </a:r>
                      <a:endParaRPr lang="en-US" sz="14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effectLst/>
                        </a:rPr>
                        <a:t>91</a:t>
                      </a:r>
                      <a:endParaRPr lang="en-US" sz="14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684143549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7041C7F0-3F22-43DB-89C4-1CDBDA126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032" y="3529628"/>
            <a:ext cx="2160971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Google Shape;205;p28">
            <a:extLst>
              <a:ext uri="{FF2B5EF4-FFF2-40B4-BE49-F238E27FC236}">
                <a16:creationId xmlns:a16="http://schemas.microsoft.com/office/drawing/2014/main" id="{DD413BE8-F2BC-4B7E-9F91-D1D8D9252F68}"/>
              </a:ext>
            </a:extLst>
          </p:cNvPr>
          <p:cNvSpPr txBox="1">
            <a:spLocks/>
          </p:cNvSpPr>
          <p:nvPr/>
        </p:nvSpPr>
        <p:spPr>
          <a:xfrm>
            <a:off x="3537861" y="243658"/>
            <a:ext cx="5317381" cy="492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0D5672"/>
              </a:buClr>
            </a:pPr>
            <a:br>
              <a:rPr lang="en-US" sz="3600" dirty="0"/>
            </a:br>
            <a:r>
              <a:rPr lang="en-US" sz="3600" b="1" dirty="0">
                <a:solidFill>
                  <a:srgbClr val="0D5672"/>
                </a:solidFill>
              </a:rPr>
              <a:t>CONSOLIDATED RESULTS</a:t>
            </a:r>
            <a:endParaRPr lang="en-US" sz="3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BE9C0A-2915-42CF-9E0D-9A2A32F4B03E}"/>
              </a:ext>
            </a:extLst>
          </p:cNvPr>
          <p:cNvSpPr/>
          <p:nvPr/>
        </p:nvSpPr>
        <p:spPr>
          <a:xfrm>
            <a:off x="3799380" y="3723524"/>
            <a:ext cx="45929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Clr>
                <a:srgbClr val="0D5672"/>
              </a:buClr>
            </a:pPr>
            <a:r>
              <a:rPr lang="en-US" b="1" u="sng" dirty="0">
                <a:solidFill>
                  <a:schemeClr val="accent2"/>
                </a:solidFill>
              </a:rPr>
              <a:t>BACTERIAL VS. VIRAL CLASSIFICATION 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8BBBEE-D113-4CF4-9973-50E8FC1E18B8}"/>
              </a:ext>
            </a:extLst>
          </p:cNvPr>
          <p:cNvSpPr/>
          <p:nvPr/>
        </p:nvSpPr>
        <p:spPr>
          <a:xfrm>
            <a:off x="4446993" y="1015027"/>
            <a:ext cx="32976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Clr>
                <a:srgbClr val="0D5672"/>
              </a:buClr>
            </a:pPr>
            <a:r>
              <a:rPr lang="en-US" b="1" u="sng" dirty="0">
                <a:solidFill>
                  <a:schemeClr val="accent2"/>
                </a:solidFill>
              </a:rPr>
              <a:t>NORMAL VS PNEUMONIA RESULTS</a:t>
            </a:r>
            <a:endParaRPr lang="en-US" u="sng" dirty="0">
              <a:solidFill>
                <a:schemeClr val="accent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DCACF-0398-C387-75E8-F33B76147B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827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2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D5672"/>
              </a:buClr>
              <a:buSzPts val="4800"/>
              <a:buFont typeface="Calibri"/>
              <a:buNone/>
            </a:pPr>
            <a:r>
              <a:rPr lang="en-US" b="1">
                <a:solidFill>
                  <a:srgbClr val="0D5672"/>
                </a:solidFill>
              </a:rPr>
              <a:t>CONCLUSION </a:t>
            </a:r>
            <a:endParaRPr/>
          </a:p>
        </p:txBody>
      </p:sp>
      <p:sp>
        <p:nvSpPr>
          <p:cNvPr id="239" name="Google Shape;239;p32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5156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dirty="0"/>
          </a:p>
          <a:p>
            <a:pPr marL="91440" lvl="0" indent="-15875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500"/>
              <a:buFont typeface="Noto Sans Symbols"/>
              <a:buChar char="▪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We can clearly see from the results that our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transfer learning models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performing better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than our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conventional CNN model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91440" indent="-158750">
              <a:lnSpc>
                <a:spcPct val="100000"/>
              </a:lnSpc>
              <a:spcBef>
                <a:spcPts val="1400"/>
              </a:spcBef>
              <a:buSzPts val="2500"/>
              <a:buFont typeface="Noto Sans Symbols"/>
              <a:buChar char="▪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Normal vs Pneumonia case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Our transfer learning model has performed remarkably well and has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produced Recall better than the benchmark score (93.2%)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;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VGG16 (Recall: 99.23)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being the champion model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91440" lvl="0" indent="-158750">
              <a:lnSpc>
                <a:spcPct val="100000"/>
              </a:lnSpc>
              <a:spcBef>
                <a:spcPts val="1400"/>
              </a:spcBef>
              <a:buSzPts val="2500"/>
              <a:buFont typeface="Noto Sans Symbols"/>
              <a:buChar char="▪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Bacterial vs. Viral case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Our models have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produced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better F1 scores and Precision than the benchmarks of F1 (62.36%) and Precision(48.11%)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;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INCEPTIONV3 (F1-Score 92.53%)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being the champion model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91440" lvl="0" indent="-158750">
              <a:lnSpc>
                <a:spcPct val="100000"/>
              </a:lnSpc>
              <a:spcBef>
                <a:spcPts val="1400"/>
              </a:spcBef>
              <a:buSzPts val="2500"/>
              <a:buFont typeface="Noto Sans Symbols"/>
              <a:buChar char="▪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Showcased the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power of the transfer learning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system to make highly effective classifications (better than benchmarks), even with a very limited training data</a:t>
            </a:r>
          </a:p>
          <a:p>
            <a:pPr marL="91440" lvl="0" indent="-15875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500"/>
              <a:buFont typeface="Noto Sans Symbols"/>
              <a:buChar char="▪"/>
            </a:pPr>
            <a:endParaRPr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832477-47CF-293F-DA32-48E34BF7D7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2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D5672"/>
              </a:buClr>
              <a:buSzPts val="4800"/>
              <a:buFont typeface="Calibri"/>
              <a:buNone/>
            </a:pPr>
            <a:r>
              <a:rPr lang="en-US" b="1" dirty="0">
                <a:solidFill>
                  <a:srgbClr val="0D5672"/>
                </a:solidFill>
              </a:rPr>
              <a:t>FUTURE SCOPE</a:t>
            </a:r>
            <a:endParaRPr dirty="0"/>
          </a:p>
        </p:txBody>
      </p:sp>
      <p:sp>
        <p:nvSpPr>
          <p:cNvPr id="239" name="Google Shape;239;p32"/>
          <p:cNvSpPr txBox="1">
            <a:spLocks noGrp="1"/>
          </p:cNvSpPr>
          <p:nvPr>
            <p:ph type="body" idx="1"/>
          </p:nvPr>
        </p:nvSpPr>
        <p:spPr>
          <a:xfrm>
            <a:off x="785004" y="1845734"/>
            <a:ext cx="10955547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284163" lvl="0" indent="-28416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1800" dirty="0"/>
          </a:p>
          <a:p>
            <a:pPr marL="284163" lvl="0" indent="-284163" algn="just">
              <a:lnSpc>
                <a:spcPct val="100000"/>
              </a:lnSpc>
              <a:spcBef>
                <a:spcPts val="1400"/>
              </a:spcBef>
              <a:buSzPts val="2500"/>
              <a:buFont typeface="Noto Sans Symbols"/>
              <a:buChar char="▪"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Long way in </a:t>
            </a:r>
            <a:r>
              <a:rPr lang="en-US" sz="18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improving the health of at-risk children 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 energy-poor environments</a:t>
            </a:r>
          </a:p>
          <a:p>
            <a:pPr marL="284163" lvl="0" indent="-284163" algn="just">
              <a:lnSpc>
                <a:spcPct val="100000"/>
              </a:lnSpc>
              <a:spcBef>
                <a:spcPts val="1400"/>
              </a:spcBef>
              <a:buSzPts val="2500"/>
              <a:buFont typeface="Noto Sans Symbols"/>
              <a:buChar char="▪"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Our study was </a:t>
            </a:r>
            <a:r>
              <a:rPr lang="en-US" sz="18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limited by depth of Data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With increased access to data and training of the model with radiological data from patients and nonpatients in different geography, significant improvements can be made</a:t>
            </a:r>
          </a:p>
          <a:p>
            <a:pPr marL="284163" lvl="0" indent="-284163" algn="just">
              <a:lnSpc>
                <a:spcPct val="100000"/>
              </a:lnSpc>
              <a:spcBef>
                <a:spcPts val="1400"/>
              </a:spcBef>
              <a:buSzPts val="2500"/>
              <a:buFont typeface="Noto Sans Symbols"/>
              <a:buChar char="▪"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Future studies could </a:t>
            </a:r>
            <a:r>
              <a:rPr lang="en-US" sz="18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entail use of images from varied manufacturers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so that the system will be universally useful</a:t>
            </a:r>
          </a:p>
          <a:p>
            <a:pPr marL="284163" lvl="0" indent="-284163" algn="just">
              <a:lnSpc>
                <a:spcPct val="100000"/>
              </a:lnSpc>
              <a:spcBef>
                <a:spcPts val="1400"/>
              </a:spcBef>
              <a:buSzPts val="2500"/>
              <a:buFont typeface="Noto Sans Symbols"/>
              <a:buChar char="▪"/>
            </a:pP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Ophthalmology, CT Scans 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—in principle, the techniques we have described here could potentially be extended in a wide range of medical images across multiple disciplines</a:t>
            </a:r>
          </a:p>
          <a:p>
            <a:pPr marL="284163" lvl="0" indent="-284163" algn="just">
              <a:lnSpc>
                <a:spcPct val="100000"/>
              </a:lnSpc>
              <a:spcBef>
                <a:spcPts val="1400"/>
              </a:spcBef>
              <a:buSzPts val="2500"/>
              <a:buFont typeface="Noto Sans Symbols"/>
              <a:buChar char="▪"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Perform </a:t>
            </a:r>
            <a:r>
              <a:rPr lang="en-US" sz="18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Occlusion testing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to identify areas of greatest importance used by model while assigning a diagnosis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9F401F-E8C5-1828-BE13-CB410B0EC7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0139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2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 algn="ctr">
              <a:buClr>
                <a:srgbClr val="0D5672"/>
              </a:buClr>
              <a:buSzPts val="4800"/>
            </a:pPr>
            <a:r>
              <a:rPr lang="en-US" b="1" dirty="0">
                <a:solidFill>
                  <a:srgbClr val="0D5672"/>
                </a:solidFill>
              </a:rPr>
              <a:t>REFERENCES</a:t>
            </a:r>
            <a:endParaRPr dirty="0"/>
          </a:p>
        </p:txBody>
      </p:sp>
      <p:sp>
        <p:nvSpPr>
          <p:cNvPr id="239" name="Google Shape;239;p32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5156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500"/>
              <a:buNone/>
            </a:pPr>
            <a:endParaRPr lang="en-US" sz="25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91440" lvl="0" indent="-15875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500"/>
              <a:buFont typeface="Noto Sans Symbols"/>
              <a:buChar char="▪"/>
            </a:pPr>
            <a:endParaRPr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85E690-A62E-4335-9D75-DF47D4F8234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958" r="26132" b="12239"/>
          <a:stretch/>
        </p:blipFill>
        <p:spPr>
          <a:xfrm>
            <a:off x="10843403" y="5313949"/>
            <a:ext cx="1155940" cy="103096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616297B-AA25-47B6-B2C9-DF6CA147B374}"/>
              </a:ext>
            </a:extLst>
          </p:cNvPr>
          <p:cNvSpPr/>
          <p:nvPr/>
        </p:nvSpPr>
        <p:spPr>
          <a:xfrm>
            <a:off x="693564" y="1690062"/>
            <a:ext cx="1102973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1600" i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Kermany</a:t>
            </a:r>
            <a:r>
              <a:rPr lang="en-US" sz="16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et. al, Michael </a:t>
            </a:r>
            <a:r>
              <a:rPr lang="en-US" sz="1600" i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Goldbaum</a:t>
            </a:r>
            <a:r>
              <a:rPr lang="en-US" sz="16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Michael </a:t>
            </a:r>
            <a:r>
              <a:rPr lang="en-US" sz="1600" i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Goldbaum</a:t>
            </a:r>
            <a:r>
              <a:rPr lang="en-US" sz="16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i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Wenjia</a:t>
            </a:r>
            <a:r>
              <a:rPr lang="en-US" sz="16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Cai, Carolina C.S. </a:t>
            </a:r>
            <a:r>
              <a:rPr lang="en-US" sz="1600" i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Valentim</a:t>
            </a:r>
            <a:r>
              <a:rPr lang="en-US" sz="16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i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Huiying</a:t>
            </a:r>
            <a:r>
              <a:rPr lang="en-US" sz="16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Liang, Sally L. Baxter, Alex McKeown. Identifying medical diagnoses and treatable diseases by image-based deep learning. In Cell 172, 1122–1131, 2018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6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Imran, A. Training a CNN to detect Pneumonia. 2019. Available online: https://medium.com/datadriveninvestor/training-a-cnn-to-detect-pneumonia-c42a44101deb (accessed on 23 October 2022).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6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Chouhan, V.; Singh, S.K.; </a:t>
            </a:r>
            <a:r>
              <a:rPr lang="en-US" sz="1600" i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Khamparia</a:t>
            </a:r>
            <a:r>
              <a:rPr lang="en-US" sz="16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A.; Gupta, N.; Tiwari, P.; Moreira, C.; </a:t>
            </a:r>
            <a:r>
              <a:rPr lang="en-US" sz="1600" i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Damasevicius</a:t>
            </a:r>
            <a:r>
              <a:rPr lang="en-US" sz="16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R.; De Albuquerque, V.H.C. A Novel Transfer Learning Based Approach for Pneumonia Detection in Chest X-ray Images. Appl. Sci. 2020, 10, 559.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1600" i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Aydogdu</a:t>
            </a:r>
            <a:r>
              <a:rPr lang="en-US" sz="16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M.; </a:t>
            </a:r>
            <a:r>
              <a:rPr lang="en-US" sz="1600" i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Ozyilmaz</a:t>
            </a:r>
            <a:r>
              <a:rPr lang="en-US" sz="16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E.; Aksoy, H.; </a:t>
            </a:r>
            <a:r>
              <a:rPr lang="en-US" sz="1600" i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Gursel</a:t>
            </a:r>
            <a:r>
              <a:rPr lang="en-US" sz="16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G.; </a:t>
            </a:r>
            <a:r>
              <a:rPr lang="en-US" sz="1600" i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Ekim</a:t>
            </a:r>
            <a:r>
              <a:rPr lang="en-US" sz="16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N. Mortality prediction in community-acquired pneumonia requiring mechanical ventilation; values of pneumonia and intensive care unit severity scores. </a:t>
            </a:r>
            <a:r>
              <a:rPr lang="en-US" sz="1600" i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Tuberk</a:t>
            </a:r>
            <a:r>
              <a:rPr lang="en-US" sz="16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i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Toraks</a:t>
            </a:r>
            <a:r>
              <a:rPr lang="en-US" sz="16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2010, 58, 25–34.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16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WHO. Standardization of Interpretation of Chest Radiographs for the Diagnosis of Pneumonia in Children; World Health Organization: Geneva, Switzerland, 2001.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16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Jung, H.; Kim, B.; Lee, I.; Lee, J.; Kang, J. Classification of lung nodules in CT scans using three-dimensional deep convolutional neural networks with a checkpoint ensemble method. BMC Med. </a:t>
            </a:r>
            <a:r>
              <a:rPr lang="en-US" sz="1600" i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</a:t>
            </a:r>
            <a:r>
              <a:rPr lang="en-US" sz="16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2018, 18, 48.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1600" b="1" i="1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Kaggle Dataset Link</a:t>
            </a:r>
            <a:endParaRPr lang="en-US" sz="16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1600" b="1" i="1" dirty="0">
                <a:latin typeface="Calibri" panose="020F0502020204030204" pitchFamily="34" charset="0"/>
                <a:cs typeface="Calibri" panose="020F0502020204030204" pitchFamily="34" charset="0"/>
              </a:rPr>
              <a:t>(Rest of the References have been presented in </a:t>
            </a:r>
            <a:r>
              <a:rPr lang="en-US" sz="1600" b="1" i="1">
                <a:latin typeface="Calibri" panose="020F0502020204030204" pitchFamily="34" charset="0"/>
                <a:cs typeface="Calibri" panose="020F0502020204030204" pitchFamily="34" charset="0"/>
              </a:rPr>
              <a:t>the Project Report)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62BABD-7A65-5FD4-77A3-9377F1F177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00447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</TotalTime>
  <Words>1688</Words>
  <Application>Microsoft Office PowerPoint</Application>
  <PresentationFormat>Widescreen</PresentationFormat>
  <Paragraphs>321</Paragraphs>
  <Slides>22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Arial</vt:lpstr>
      <vt:lpstr>Noto Sans Symbols</vt:lpstr>
      <vt:lpstr>Calibri</vt:lpstr>
      <vt:lpstr>Roboto Mono</vt:lpstr>
      <vt:lpstr>Wingdings</vt:lpstr>
      <vt:lpstr>Merriweather</vt:lpstr>
      <vt:lpstr>Times New Roman</vt:lpstr>
      <vt:lpstr>Gill Sans MT</vt:lpstr>
      <vt:lpstr>Bahnschrift SemiBold</vt:lpstr>
      <vt:lpstr>Retrospect</vt:lpstr>
      <vt:lpstr>  Transfer Learning-based Pneumonia Detection using Chest X-Ray Images</vt:lpstr>
      <vt:lpstr>PowerPoint Presentation</vt:lpstr>
      <vt:lpstr>INTRODUCTION</vt:lpstr>
      <vt:lpstr>PROBLEM STATEMENT</vt:lpstr>
      <vt:lpstr>IMPORTANT METRICS</vt:lpstr>
      <vt:lpstr>ABOUT THE DATASET</vt:lpstr>
      <vt:lpstr>PNEUMONIA VS NORMAL X-RAY IMAGES</vt:lpstr>
      <vt:lpstr>DATA AUGMENTATION</vt:lpstr>
      <vt:lpstr>MODELS USED</vt:lpstr>
      <vt:lpstr>CNN ARCHITECTURE</vt:lpstr>
      <vt:lpstr>PowerPoint Presentation</vt:lpstr>
      <vt:lpstr>TRANSFER LEARNING </vt:lpstr>
      <vt:lpstr>MODEL RESULTS</vt:lpstr>
      <vt:lpstr>VGG16 MODEL</vt:lpstr>
      <vt:lpstr> DENSENET MODEL</vt:lpstr>
      <vt:lpstr>VGG16 MODEL</vt:lpstr>
      <vt:lpstr> DENSENET MODEL</vt:lpstr>
      <vt:lpstr>CNN RESULTS</vt:lpstr>
      <vt:lpstr>PowerPoint Presentation</vt:lpstr>
      <vt:lpstr>CONCLUSION </vt:lpstr>
      <vt:lpstr>FUTURE SCOPE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Pneumonia Detection from Chest X-Ray Images</dc:title>
  <dc:creator>Karthikeya R</dc:creator>
  <cp:lastModifiedBy>Saranya Bhattacharjee</cp:lastModifiedBy>
  <cp:revision>78</cp:revision>
  <dcterms:modified xsi:type="dcterms:W3CDTF">2023-05-06T05:51:57Z</dcterms:modified>
</cp:coreProperties>
</file>